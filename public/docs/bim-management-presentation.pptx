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F7D7-4FC3-F2E1-0B4F-19F6B3B74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55322-C29A-FAFF-2EAD-15EBFCCEA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1BE0-47FF-C571-6992-58B00280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4E098-97ED-BCB7-5DAC-78F30517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F78E5-85BA-9D90-D143-70ADA007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5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B859-A998-07B3-A6D5-6EAF6EF0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AA551-61B2-0C0E-F5D3-26225790A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83A52-34BB-AE78-188A-4B7E5EF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3891D-D1E7-14BB-48D8-FD4A562E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CEFD-0666-D341-387F-C2CF5CD2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3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50A1-EE29-B57E-73F7-01E62EB4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19D6F-BDAA-8330-B3B7-7CE4FEF3E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F4CB-767C-375B-9C11-E4760EFE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AE20-9875-C58A-36DB-5B5C149F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2A50-EF18-6490-C531-ED390A5C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3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180F-189C-FF80-2650-7517FC4E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6B258-4E1B-501F-BA63-03CCB0F9A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14A95-5303-E458-0A07-5498555A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6A009-0F51-8BFF-DF78-2E352AC2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7A4BC-E195-C726-93D6-32F6C495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296C3-0E5B-5B00-4634-4BABF655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2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EFA2-31F2-6A2C-D39A-DF4EC7F9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A5F89-ED55-6B5C-E096-EB1EEF29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CD5A2-ADC4-09C5-AE57-DB189FD4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ED8CF-177B-72A7-2E56-4440C8F12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61D87-82EE-7061-6EDD-E8EFEFD0F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9C4C0-5AA9-071A-687E-3C9BD1AD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948B9-AC92-9E3C-278D-47EF6E34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66702-4947-57CF-1BE7-EC3F3415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539A-822B-4C1B-3BF3-385A05EE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DBE68-940E-6FBB-2094-F852864A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BB33E-CD7F-D867-3A68-2E72C7A3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019BD-486E-05E3-ED3D-E6891BB8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2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CBF87-F329-9549-CA8C-A1387B68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48104-549B-E2A0-AF7A-859D900A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BED81-07A8-0A0B-8BF9-E290BFD6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4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736B-EE8F-C217-ADFB-B9F4EB15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FD89-28C0-329C-40C2-8716CCB46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AA238-4511-8ED2-0DB9-3480C3BC9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2B96B-70A0-EF12-BC1A-B6F1A634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DEE12-A1A4-5BA6-2941-1138CF26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F5659-EB7E-C3F6-55D0-54DE6104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4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AFDC-2358-E40B-EA59-7FCF0DCF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058EE-47BC-60E6-EEDC-5FEC0603A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977CA-AC4F-FCCF-A5F8-A662860AC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E13E3-4357-790D-36BB-ACD19EC9A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A19DA-3262-1F9B-496B-AD637532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C3EF6-EFBB-F28B-DC64-E8A087E0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4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3F79-09A4-E5D2-8D8B-93C5E685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2B29E-C842-B2B5-FAA4-0914F7EC5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DEF0D-7810-9190-E099-7B8B6D0A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FCDDB-CA7C-2070-71C0-67A8A02C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9EEF6-B478-504B-3BE8-F2298F59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4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13CDA-0C73-C44E-1DD4-AC9F4D706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1E5F3-EA31-9363-2618-F0B1C2873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F5E10-6608-A911-468E-A1E943B9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91465-D821-FEC6-6A7A-483C256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C8226-CD90-35CB-1BF7-95ACDFDE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3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9643B-FCC7-03AD-58F4-6936FAC4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877A7-1D8C-BF94-E557-F46EF860B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C9A34-A400-2E13-11C5-3486D0777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46C60-ED0C-4AA8-BBD7-5C52127717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D764B-3FE8-B5A3-4C3B-AA85AF883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DDB94-A239-0DF9-F205-AA0871A06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52254-14C5-47C3-BCFE-6E53E1FB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illustrates a comprehensive BIM/VDC-driven project management process that enhances value for owners through cost control, early conflict detection, improved schedule reliability, better decision-making, and continuous data flow, supported by various levels of BIM development for enhanced coordination and quality outcomes.&#10;&#10;AI-generated content may be incorrect.">
            <a:extLst>
              <a:ext uri="{FF2B5EF4-FFF2-40B4-BE49-F238E27FC236}">
                <a16:creationId xmlns:a16="http://schemas.microsoft.com/office/drawing/2014/main" id="{2F466F5B-A3CA-437B-19F2-DECD7B862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52" b="17868"/>
          <a:stretch>
            <a:fillRect/>
          </a:stretch>
        </p:blipFill>
        <p:spPr>
          <a:xfrm>
            <a:off x="387010" y="473829"/>
            <a:ext cx="11079566" cy="567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6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D12E7-6B69-B43D-DA81-6AF0F892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5572CF-30DA-ED6A-C48E-889C80CAF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0833B-0DC8-3618-A313-130CC3FE6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CBEC64-0854-EA40-8956-0998DC645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4D94BA-6F03-F390-6917-7EFE61D84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9FDF3-ECCE-1BA7-A189-95D6C3564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335C8-C7F0-30AF-261C-40E4118D8146}"/>
              </a:ext>
            </a:extLst>
          </p:cNvPr>
          <p:cNvSpPr txBox="1"/>
          <p:nvPr/>
        </p:nvSpPr>
        <p:spPr>
          <a:xfrm>
            <a:off x="3048000" y="1043475"/>
            <a:ext cx="6096000" cy="477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Critical Distinction: True BIM-Driven Management vs. “Using BIM”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document emphasizes that many firms claim BIM capability without actually operating a BIM-driven management process.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Questions Owners Should Ask: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 manages the BIM Execution Plan (BEP)?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4D scheduling actively managed from the model?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quantities tied directly into cost tracking (5D)?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 owns and controls the federated model?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BIM-driven reports issued directly to ownership?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Position: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 management or owner’s representative team—not solely the architect or contractor—should maintain ownership and control of the integrated project model.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The image depicts a complex, multi-level mechanical system with numerous interconnected pipes and components.&#10;&#10;AI-generated content may be incorrect.">
            <a:extLst>
              <a:ext uri="{FF2B5EF4-FFF2-40B4-BE49-F238E27FC236}">
                <a16:creationId xmlns:a16="http://schemas.microsoft.com/office/drawing/2014/main" id="{EF8C220D-03CB-AF86-2845-83A37A19B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465" y="2467897"/>
            <a:ext cx="4306528" cy="21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5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DC738-2D5A-C984-884E-F2CD161E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3C3904-3C68-D378-BA5A-4F04BDDEA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83AEF5-7EFD-3AEB-A86A-F3D673677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59EA00-56EA-6B55-A67B-A0C01A5FB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FD02F9-BBDB-4418-9607-7E0606335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22FE3C0-C0CF-82EE-9474-7FFDD5B55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46896-526D-6E68-D153-ED66B3DD74A9}"/>
              </a:ext>
            </a:extLst>
          </p:cNvPr>
          <p:cNvSpPr txBox="1"/>
          <p:nvPr/>
        </p:nvSpPr>
        <p:spPr>
          <a:xfrm>
            <a:off x="1592826" y="212671"/>
            <a:ext cx="6361471" cy="643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Executive Summary Highlights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BIM/VDC-Driven Project Management Services</a:t>
            </a: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Prepared for PM Firms, Owner’s Representatives, and General Contractors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document outlines the strategic and operational advantages of implementing a </a:t>
            </a: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BIM/VDC-driven project management system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where BIM serves as the core platform for project controls, coordination, scheduling, cost management, and owner reporting—not merely as a design visualization tool.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Strategic Benefits to Owners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Improved Cost Control &amp; Reduced Financial Risk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quantity tracking and model-based estimating (5D BIM)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budget forecasting and visibility into scope changes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Significant reduction in change orders caused by coordination issues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 contingency exposure and fewer budget surprises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predictable project costs and tighter financial control throughout the project lifecycle.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The diagram illustrates a comprehensive building lifecycle process, starting with conceptual design, progressing through various stages such as documentation, visualization, programming, and construction, and ending with operation, maintenance, and demolition.&#10;&#10;AI-generated content may be incorrect.">
            <a:extLst>
              <a:ext uri="{FF2B5EF4-FFF2-40B4-BE49-F238E27FC236}">
                <a16:creationId xmlns:a16="http://schemas.microsoft.com/office/drawing/2014/main" id="{ADE0F54D-AA07-6496-0A25-CAEFF765B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5" y="2614980"/>
            <a:ext cx="4012568" cy="277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7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4467C-6D51-71C0-DEFD-A786F9621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F969E7-C979-CC16-A401-5EBA08ECE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7F1A35-9C8B-26CB-886D-6D72D4C44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41E2AD-BAF8-2F8C-B30C-884F4DCF0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5687C8-BF7E-CFCA-9A19-FD24988BE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231E664-DC7C-3EDB-D298-ECBEDAC6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2BE68-5042-870E-208F-45B392643489}"/>
              </a:ext>
            </a:extLst>
          </p:cNvPr>
          <p:cNvSpPr txBox="1"/>
          <p:nvPr/>
        </p:nvSpPr>
        <p:spPr>
          <a:xfrm>
            <a:off x="1022556" y="1153249"/>
            <a:ext cx="5633884" cy="455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Early Detection of Design &amp; Coordination Conflicts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BIM clash detection identifies conflicts before construction begins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Structural, architectural, and MEP issues resolved digitally rather than in the field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Reduction in RFIs, rework, delays, and field disruptions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Major reduction in costly rework and schedule disruption.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Enhanced Schedule Reliability Through 4D BIM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Integration of project schedules directly into BIM models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Visualization of sequencing, logistics, phasing, and critical path activities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Ability to simulate delays and recovery strategies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predictable delivery timelines and proactive schedule management.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he image depicts a cross-section of a structural framework with visible pipes and supports.&#10;&#10;AI-generated content may be incorrect.">
            <a:extLst>
              <a:ext uri="{FF2B5EF4-FFF2-40B4-BE49-F238E27FC236}">
                <a16:creationId xmlns:a16="http://schemas.microsoft.com/office/drawing/2014/main" id="{203E0051-DBA1-3035-4387-EAF3D93AA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901" y="901132"/>
            <a:ext cx="4181894" cy="2090947"/>
          </a:xfrm>
          <a:prstGeom prst="rect">
            <a:avLst/>
          </a:prstGeom>
        </p:spPr>
      </p:pic>
      <p:pic>
        <p:nvPicPr>
          <p:cNvPr id="7" name="Picture 6" descr="What is 4D BIM">
            <a:extLst>
              <a:ext uri="{FF2B5EF4-FFF2-40B4-BE49-F238E27FC236}">
                <a16:creationId xmlns:a16="http://schemas.microsoft.com/office/drawing/2014/main" id="{49124D7A-8F3F-DAD5-8951-ADA383679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242" y="3458408"/>
            <a:ext cx="4128553" cy="227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75C97-6560-DBAC-81B6-DDE5D4D4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43AB29-5E8D-356D-DB91-BD8DA56D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588CB0-E0DF-14A2-3505-E09753144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E35268-7492-D2AA-73B2-90A75588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2FCA1A-74AC-A218-D9EE-8DAFBD87C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81ABD68-BB9F-166A-E988-C8C13ED29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011BA-084F-145E-0A42-76091712D8C4}"/>
              </a:ext>
            </a:extLst>
          </p:cNvPr>
          <p:cNvSpPr txBox="1"/>
          <p:nvPr/>
        </p:nvSpPr>
        <p:spPr>
          <a:xfrm>
            <a:off x="1288026" y="1153986"/>
            <a:ext cx="5319251" cy="4762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Real-Time Data &amp; Decision-Making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Live project dashboards tied to cost, schedule, and progress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Scenario modeling for informed owner decision-making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project visibility instead of static reporting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and more informed executive decisions.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Centralized Coordination &amp; Accountability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BIM becomes the “single source of truth” across all stakeholders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communication among architects, engineers, contractors, and owners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 accountability and transparency in project execution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fragmentation and smoother project delivery.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he image shows a person working at a computer terminal, monitoring multiple screens displaying technical or engineering diagrams.&#10;&#10;AI-generated content may be incorrect.">
            <a:extLst>
              <a:ext uri="{FF2B5EF4-FFF2-40B4-BE49-F238E27FC236}">
                <a16:creationId xmlns:a16="http://schemas.microsoft.com/office/drawing/2014/main" id="{8DE1481C-7085-7A77-5CA9-DF1F97F77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937" y="1743100"/>
            <a:ext cx="4810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3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28CA7-5B73-1BD2-38DA-AAEF30CD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825B7F-7433-C002-B4A1-854E9DB18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AF9530-A0FB-9A7B-211A-4B0FD7421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064DE5-F339-A2B5-24E8-3C0CA3148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84F1E8-203B-C12C-4193-B8AC90004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F890366-25A9-8C55-FBD7-7F30E1C7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24575-0B78-EA95-1BD7-F2BCFCD50C9E}"/>
              </a:ext>
            </a:extLst>
          </p:cNvPr>
          <p:cNvSpPr txBox="1"/>
          <p:nvPr/>
        </p:nvSpPr>
        <p:spPr>
          <a:xfrm>
            <a:off x="1533832" y="889587"/>
            <a:ext cx="4955458" cy="507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Higher Construction Quality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coordination improves constructability and detailing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field errors and installation conflicts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consistent project execution and quality assurance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 defect rates and fewer post-construction issues.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Long-Term Lifecycle Asset Value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 of accurate as-built BIM models (LOD 500)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 facilities management and future renovations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Asset-tagged equipment data enhances operations readiness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 Value: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Operational efficiencies extend well beyond construction completion.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igh-rise Buildings · Free Stock Photo">
            <a:extLst>
              <a:ext uri="{FF2B5EF4-FFF2-40B4-BE49-F238E27FC236}">
                <a16:creationId xmlns:a16="http://schemas.microsoft.com/office/drawing/2014/main" id="{F33E2128-48A7-6015-4E5C-4E8CE723F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18" y="740076"/>
            <a:ext cx="3545807" cy="472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0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509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Williams</dc:creator>
  <cp:lastModifiedBy>Fernando Williams</cp:lastModifiedBy>
  <cp:revision>1</cp:revision>
  <dcterms:created xsi:type="dcterms:W3CDTF">2026-08-02T21:00:33Z</dcterms:created>
  <dcterms:modified xsi:type="dcterms:W3CDTF">2026-08-02T22:05:33Z</dcterms:modified>
</cp:coreProperties>
</file>