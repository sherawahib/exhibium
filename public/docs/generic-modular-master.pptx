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.jpg" ContentType="image/jpeg"/>
  <Override PartName="/ppt/media/image7.JPG" ContentType="image/jpeg"/>
  <Override PartName="/ppt/media/image8.jpg" ContentType="image/jpeg"/>
  <Override PartName="/ppt/media/image9.JPG" ContentType="image/jpeg"/>
  <Override PartName="/ppt/media/image10.jpg" ContentType="image/jpeg"/>
  <Override PartName="/ppt/media/image13.jpg" ContentType="image/jpeg"/>
  <Override PartName="/ppt/media/image14.jpg" ContentType="image/jpeg"/>
  <Override PartName="/ppt/media/image15.jpg" ContentType="image/jpeg"/>
  <Override PartName="/ppt/media/image16.jpg" ContentType="image/jpeg"/>
  <Override PartName="/ppt/media/image17.jpg" ContentType="image/jpeg"/>
  <Override PartName="/ppt/media/image18.jpg" ContentType="image/jpeg"/>
  <Override PartName="/ppt/media/image22.jpg" ContentType="image/jpeg"/>
  <Override PartName="/ppt/media/image25.jpg" ContentType="image/jpeg"/>
  <Override PartName="/ppt/media/image29.jpg" ContentType="image/jpeg"/>
  <Override PartName="/ppt/media/image4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7" r:id="rId4"/>
    <p:sldId id="272" r:id="rId5"/>
    <p:sldId id="259" r:id="rId6"/>
    <p:sldId id="260" r:id="rId7"/>
    <p:sldId id="261" r:id="rId8"/>
    <p:sldId id="262" r:id="rId9"/>
    <p:sldId id="264" r:id="rId10"/>
    <p:sldId id="273" r:id="rId11"/>
    <p:sldId id="267" r:id="rId12"/>
    <p:sldId id="268" r:id="rId13"/>
    <p:sldId id="274" r:id="rId14"/>
    <p:sldId id="269" r:id="rId15"/>
    <p:sldId id="270" r:id="rId16"/>
    <p:sldId id="275" r:id="rId17"/>
    <p:sldId id="276" r:id="rId18"/>
  </p:sldIdLst>
  <p:sldSz cx="13411200" cy="10058400"/>
  <p:notesSz cx="134112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40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4"/>
            <a:ext cx="938784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5" dirty="0"/>
              <a:t>Page</a:t>
            </a:r>
            <a:r>
              <a:rPr spc="-17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5" dirty="0"/>
              <a:t>Page</a:t>
            </a:r>
            <a:r>
              <a:rPr spc="-17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2"/>
            <a:ext cx="5833872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2"/>
            <a:ext cx="5833872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5" dirty="0"/>
              <a:t>Page</a:t>
            </a:r>
            <a:r>
              <a:rPr spc="-17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5" dirty="0"/>
              <a:t>Page</a:t>
            </a:r>
            <a:r>
              <a:rPr spc="-17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5" dirty="0"/>
              <a:t>Page</a:t>
            </a:r>
            <a:r>
              <a:rPr spc="-17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93191" y="9270492"/>
            <a:ext cx="1661160" cy="4709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3915" y="1037920"/>
            <a:ext cx="9183369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74394" y="1724405"/>
            <a:ext cx="10662411" cy="2195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2"/>
            <a:ext cx="4291584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2"/>
            <a:ext cx="3084576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70083" y="8990024"/>
            <a:ext cx="62992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5" dirty="0"/>
              <a:t>Page</a:t>
            </a:r>
            <a:r>
              <a:rPr spc="-17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3D5B1514-E7D1-4FEB-BFCD-02F7F3C38AAF}"/>
              </a:ext>
            </a:extLst>
          </p:cNvPr>
          <p:cNvSpPr/>
          <p:nvPr/>
        </p:nvSpPr>
        <p:spPr>
          <a:xfrm>
            <a:off x="5486400" y="76200"/>
            <a:ext cx="7924799" cy="678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7522464" y="6236207"/>
            <a:ext cx="5888735" cy="3822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0058400"/>
          </a:xfrm>
          <a:custGeom>
            <a:avLst/>
            <a:gdLst/>
            <a:ahLst/>
            <a:cxnLst/>
            <a:rect l="l" t="t" r="r" b="b"/>
            <a:pathLst>
              <a:path w="10415270" h="10058400">
                <a:moveTo>
                  <a:pt x="6921246" y="0"/>
                </a:moveTo>
                <a:lnTo>
                  <a:pt x="0" y="0"/>
                </a:lnTo>
                <a:lnTo>
                  <a:pt x="0" y="10057574"/>
                </a:lnTo>
                <a:lnTo>
                  <a:pt x="2248789" y="10057574"/>
                </a:lnTo>
                <a:lnTo>
                  <a:pt x="2248408" y="10058399"/>
                </a:lnTo>
                <a:lnTo>
                  <a:pt x="10415016" y="10058399"/>
                </a:lnTo>
                <a:lnTo>
                  <a:pt x="6921246" y="0"/>
                </a:lnTo>
                <a:close/>
              </a:path>
            </a:pathLst>
          </a:custGeom>
          <a:solidFill>
            <a:srgbClr val="252525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" y="0"/>
            <a:ext cx="8001000" cy="10058400"/>
          </a:xfrm>
          <a:custGeom>
            <a:avLst/>
            <a:gdLst/>
            <a:ahLst/>
            <a:cxnLst/>
            <a:rect l="l" t="t" r="r" b="b"/>
            <a:pathLst>
              <a:path w="8886825" h="10058400">
                <a:moveTo>
                  <a:pt x="5392166" y="0"/>
                </a:moveTo>
                <a:lnTo>
                  <a:pt x="0" y="0"/>
                </a:lnTo>
                <a:lnTo>
                  <a:pt x="0" y="10057575"/>
                </a:lnTo>
                <a:lnTo>
                  <a:pt x="719175" y="10057575"/>
                </a:lnTo>
                <a:lnTo>
                  <a:pt x="718896" y="10058399"/>
                </a:lnTo>
                <a:lnTo>
                  <a:pt x="8886444" y="10058399"/>
                </a:lnTo>
                <a:lnTo>
                  <a:pt x="539216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74547" y="3722623"/>
            <a:ext cx="4597400" cy="383758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marR="136525">
              <a:lnSpc>
                <a:spcPts val="5720"/>
              </a:lnSpc>
              <a:spcBef>
                <a:spcPts val="825"/>
              </a:spcBef>
            </a:pPr>
            <a:r>
              <a:rPr sz="5300" dirty="0">
                <a:solidFill>
                  <a:srgbClr val="FFFFFF"/>
                </a:solidFill>
                <a:latin typeface="Calibri"/>
                <a:cs typeface="Calibri"/>
              </a:rPr>
              <a:t>MODULAR  </a:t>
            </a:r>
            <a:r>
              <a:rPr sz="5300" spc="-10" dirty="0">
                <a:solidFill>
                  <a:srgbClr val="FFFFFF"/>
                </a:solidFill>
                <a:latin typeface="Calibri"/>
                <a:cs typeface="Calibri"/>
              </a:rPr>
              <a:t>CONSTRUCTION</a:t>
            </a:r>
            <a:r>
              <a:rPr lang="en-US" sz="5300" spc="-10" dirty="0">
                <a:solidFill>
                  <a:srgbClr val="FFFFFF"/>
                </a:solidFill>
                <a:latin typeface="Calibri"/>
                <a:cs typeface="Calibri"/>
              </a:rPr>
              <a:t> DEVELOPMENT</a:t>
            </a:r>
            <a:r>
              <a:rPr sz="5300" spc="-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5300" spc="-5" dirty="0">
                <a:solidFill>
                  <a:srgbClr val="FFFFFF"/>
                </a:solidFill>
                <a:latin typeface="Calibri"/>
                <a:cs typeface="Calibri"/>
              </a:rPr>
              <a:t>OPPO</a:t>
            </a:r>
            <a:r>
              <a:rPr sz="5300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300" spc="-5" dirty="0">
                <a:solidFill>
                  <a:srgbClr val="FFFFFF"/>
                </a:solidFill>
                <a:latin typeface="Calibri"/>
                <a:cs typeface="Calibri"/>
              </a:rPr>
              <a:t>TUNITI</a:t>
            </a:r>
            <a:r>
              <a:rPr sz="5300" spc="-7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3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300" dirty="0">
              <a:latin typeface="Calibri"/>
              <a:cs typeface="Calibri"/>
            </a:endParaRPr>
          </a:p>
          <a:p>
            <a:pPr marL="12700" marR="5080" indent="903605">
              <a:lnSpc>
                <a:spcPts val="5720"/>
              </a:lnSpc>
              <a:spcBef>
                <a:spcPts val="615"/>
              </a:spcBef>
            </a:pPr>
            <a:endParaRPr sz="5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228600"/>
            <a:ext cx="33502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5" dirty="0"/>
              <a:t>Core</a:t>
            </a:r>
            <a:r>
              <a:rPr sz="4400" spc="-75" dirty="0"/>
              <a:t> </a:t>
            </a:r>
            <a:r>
              <a:rPr sz="4400" spc="-10" dirty="0"/>
              <a:t>Structure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022029"/>
            <a:ext cx="11579860" cy="33778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7964805" algn="l"/>
              </a:tabLst>
            </a:pPr>
            <a:r>
              <a:rPr lang="en-US" sz="2400" spc="-5" dirty="0">
                <a:latin typeface="Calibri"/>
                <a:cs typeface="Calibri"/>
              </a:rPr>
              <a:t>Exhibium has developed a core methodology applications that significantly improve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7964805" algn="l"/>
              </a:tabLst>
            </a:pPr>
            <a:r>
              <a:rPr lang="en-US" sz="2400" spc="-5" dirty="0">
                <a:latin typeface="Calibri"/>
                <a:cs typeface="Calibri"/>
              </a:rPr>
              <a:t> ROI and construction schedules.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7964805" algn="l"/>
              </a:tabLst>
            </a:pPr>
            <a:endParaRPr sz="2500" dirty="0">
              <a:latin typeface="Times New Roman"/>
              <a:cs typeface="Times New Roman"/>
            </a:endParaRPr>
          </a:p>
          <a:p>
            <a:pPr marL="927100" marR="88265" lvl="2"/>
            <a:r>
              <a:rPr lang="en-US" sz="1800" spc="-5" dirty="0">
                <a:latin typeface="Calibri"/>
                <a:cs typeface="Calibri"/>
              </a:rPr>
              <a:t>Modular construction can deliver projects 20% to 50% faster than traditional methods. Exhibium has identified the following 2 fabrication and erection systems as viable alternatives for the projects being undertaken. </a:t>
            </a:r>
            <a:r>
              <a:rPr lang="en-US" dirty="0">
                <a:cs typeface="Calibri"/>
              </a:rPr>
              <a:t>A project’s specific requirements will determine the choice of modular system.</a:t>
            </a:r>
          </a:p>
          <a:p>
            <a:pPr marL="1670050" marR="88265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Existing Container structures</a:t>
            </a:r>
          </a:p>
          <a:p>
            <a:pPr marL="1670050" marR="88265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Pre-fabricated steel module cores</a:t>
            </a:r>
          </a:p>
          <a:p>
            <a:pPr marL="1670050" marR="88265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Custom fabricated structures w/ modular connectors</a:t>
            </a:r>
          </a:p>
          <a:p>
            <a:pPr marL="469900" marR="88265" lvl="1"/>
            <a:endParaRPr lang="en-US" dirty="0">
              <a:latin typeface="Calibri"/>
              <a:cs typeface="Calibri"/>
            </a:endParaRPr>
          </a:p>
          <a:p>
            <a:pPr marL="755650" marR="88265" lvl="1" indent="-285750">
              <a:buFont typeface="Arial" panose="020B0604020202020204" pitchFamily="34" charset="0"/>
              <a:buChar char="•"/>
            </a:pPr>
            <a:endParaRPr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57926" y="8939783"/>
            <a:ext cx="2971673" cy="271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2050" spc="5" dirty="0">
                <a:solidFill>
                  <a:srgbClr val="9D9FA0"/>
                </a:solidFill>
                <a:latin typeface="Calibri"/>
                <a:cs typeface="Calibri"/>
              </a:rPr>
              <a:t>Modular </a:t>
            </a:r>
            <a:r>
              <a:rPr sz="2050" dirty="0">
                <a:solidFill>
                  <a:srgbClr val="9D9FA0"/>
                </a:solidFill>
                <a:latin typeface="Calibri"/>
                <a:cs typeface="Calibri"/>
              </a:rPr>
              <a:t>Construction</a:t>
            </a:r>
            <a:r>
              <a:rPr sz="2050" spc="-165" dirty="0">
                <a:solidFill>
                  <a:srgbClr val="9D9FA0"/>
                </a:solidFill>
                <a:latin typeface="Calibri"/>
                <a:cs typeface="Calibri"/>
              </a:rPr>
              <a:t> </a:t>
            </a:r>
            <a:r>
              <a:rPr sz="2050" spc="5" dirty="0">
                <a:solidFill>
                  <a:srgbClr val="9D9FA0"/>
                </a:solidFill>
                <a:latin typeface="Calibri"/>
                <a:cs typeface="Calibri"/>
              </a:rPr>
              <a:t>Apps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25" dirty="0"/>
              <a:t>Page</a:t>
            </a:r>
            <a:r>
              <a:rPr spc="-170" dirty="0"/>
              <a:t> </a:t>
            </a: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858506" y="9314636"/>
            <a:ext cx="50393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Picture 9" descr="A picture containing toy&#10;&#10;Description automatically generated">
            <a:extLst>
              <a:ext uri="{FF2B5EF4-FFF2-40B4-BE49-F238E27FC236}">
                <a16:creationId xmlns:a16="http://schemas.microsoft.com/office/drawing/2014/main" id="{9757A2D4-AC8A-41AA-93C4-B577AAC5B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066" y="3220124"/>
            <a:ext cx="4876800" cy="48768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998212" y="5242736"/>
            <a:ext cx="4758037" cy="33778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200" y="4260884"/>
            <a:ext cx="4290386" cy="41534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4126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228600"/>
            <a:ext cx="55600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5" dirty="0"/>
              <a:t>Erectors</a:t>
            </a:r>
            <a:endParaRPr sz="4400" dirty="0"/>
          </a:p>
        </p:txBody>
      </p:sp>
      <p:sp>
        <p:nvSpPr>
          <p:cNvPr id="6" name="object 6"/>
          <p:cNvSpPr txBox="1"/>
          <p:nvPr/>
        </p:nvSpPr>
        <p:spPr>
          <a:xfrm>
            <a:off x="5257926" y="8939783"/>
            <a:ext cx="2971673" cy="271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2050" spc="5" dirty="0">
                <a:solidFill>
                  <a:srgbClr val="9D9FA0"/>
                </a:solidFill>
                <a:latin typeface="Calibri"/>
                <a:cs typeface="Calibri"/>
              </a:rPr>
              <a:t>Modular </a:t>
            </a:r>
            <a:r>
              <a:rPr sz="2050" dirty="0">
                <a:solidFill>
                  <a:srgbClr val="9D9FA0"/>
                </a:solidFill>
                <a:latin typeface="Calibri"/>
                <a:cs typeface="Calibri"/>
              </a:rPr>
              <a:t>Construction</a:t>
            </a:r>
            <a:r>
              <a:rPr sz="2050" spc="-165" dirty="0">
                <a:solidFill>
                  <a:srgbClr val="9D9FA0"/>
                </a:solidFill>
                <a:latin typeface="Calibri"/>
                <a:cs typeface="Calibri"/>
              </a:rPr>
              <a:t> </a:t>
            </a:r>
            <a:r>
              <a:rPr sz="2050" spc="5" dirty="0">
                <a:solidFill>
                  <a:srgbClr val="9D9FA0"/>
                </a:solidFill>
                <a:latin typeface="Calibri"/>
                <a:cs typeface="Calibri"/>
              </a:rPr>
              <a:t>Apps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25" dirty="0"/>
              <a:t>Page</a:t>
            </a:r>
            <a:r>
              <a:rPr spc="-170" dirty="0"/>
              <a:t> </a:t>
            </a: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858506" y="9314636"/>
            <a:ext cx="50393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Picture 12" descr="A picture containing outdoor, boat, water, train&#10;&#10;Description automatically generated">
            <a:extLst>
              <a:ext uri="{FF2B5EF4-FFF2-40B4-BE49-F238E27FC236}">
                <a16:creationId xmlns:a16="http://schemas.microsoft.com/office/drawing/2014/main" id="{06310516-21C0-4A6C-963B-302873440C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749" y="770588"/>
            <a:ext cx="7086600" cy="4012266"/>
          </a:xfrm>
          <a:prstGeom prst="rect">
            <a:avLst/>
          </a:prstGeom>
        </p:spPr>
      </p:pic>
      <p:pic>
        <p:nvPicPr>
          <p:cNvPr id="17" name="Picture 16" descr="A picture containing building, bridge, cage&#10;&#10;Description automatically generated">
            <a:extLst>
              <a:ext uri="{FF2B5EF4-FFF2-40B4-BE49-F238E27FC236}">
                <a16:creationId xmlns:a16="http://schemas.microsoft.com/office/drawing/2014/main" id="{390581D4-521D-477D-8F9D-E907F2921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31" y="4800870"/>
            <a:ext cx="6324600" cy="4091869"/>
          </a:xfrm>
          <a:prstGeom prst="rect">
            <a:avLst/>
          </a:prstGeom>
        </p:spPr>
      </p:pic>
      <p:pic>
        <p:nvPicPr>
          <p:cNvPr id="11" name="Picture 10" descr="A picture containing handcart, transport, building&#10;&#10;Description automatically generated">
            <a:extLst>
              <a:ext uri="{FF2B5EF4-FFF2-40B4-BE49-F238E27FC236}">
                <a16:creationId xmlns:a16="http://schemas.microsoft.com/office/drawing/2014/main" id="{918F59E4-288A-4644-B844-2FE486EBDC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631" y="5029200"/>
            <a:ext cx="4735320" cy="3544963"/>
          </a:xfrm>
          <a:prstGeom prst="rect">
            <a:avLst/>
          </a:prstGeom>
        </p:spPr>
      </p:pic>
      <p:pic>
        <p:nvPicPr>
          <p:cNvPr id="19" name="Picture 18" descr="A crane next to a building&#10;&#10;Description automatically generated">
            <a:extLst>
              <a:ext uri="{FF2B5EF4-FFF2-40B4-BE49-F238E27FC236}">
                <a16:creationId xmlns:a16="http://schemas.microsoft.com/office/drawing/2014/main" id="{87B8D84D-D17D-49DB-8566-81303615AE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54" y="1405391"/>
            <a:ext cx="5031195" cy="337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0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57F5A7-7623-4186-B339-0AB961232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0"/>
            <a:ext cx="7162800" cy="57912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7522464" y="6236207"/>
            <a:ext cx="5888735" cy="3822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0415270" cy="10058400"/>
          </a:xfrm>
          <a:custGeom>
            <a:avLst/>
            <a:gdLst/>
            <a:ahLst/>
            <a:cxnLst/>
            <a:rect l="l" t="t" r="r" b="b"/>
            <a:pathLst>
              <a:path w="10415270" h="10058400">
                <a:moveTo>
                  <a:pt x="6921246" y="0"/>
                </a:moveTo>
                <a:lnTo>
                  <a:pt x="0" y="0"/>
                </a:lnTo>
                <a:lnTo>
                  <a:pt x="0" y="10057574"/>
                </a:lnTo>
                <a:lnTo>
                  <a:pt x="2248789" y="10057574"/>
                </a:lnTo>
                <a:lnTo>
                  <a:pt x="2248408" y="10058399"/>
                </a:lnTo>
                <a:lnTo>
                  <a:pt x="10415016" y="10058399"/>
                </a:lnTo>
                <a:lnTo>
                  <a:pt x="6921246" y="0"/>
                </a:lnTo>
                <a:close/>
              </a:path>
            </a:pathLst>
          </a:custGeom>
          <a:solidFill>
            <a:srgbClr val="252525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8886825" cy="10058400"/>
          </a:xfrm>
          <a:custGeom>
            <a:avLst/>
            <a:gdLst/>
            <a:ahLst/>
            <a:cxnLst/>
            <a:rect l="l" t="t" r="r" b="b"/>
            <a:pathLst>
              <a:path w="8886825" h="10058400">
                <a:moveTo>
                  <a:pt x="5392166" y="0"/>
                </a:moveTo>
                <a:lnTo>
                  <a:pt x="0" y="0"/>
                </a:lnTo>
                <a:lnTo>
                  <a:pt x="0" y="10057575"/>
                </a:lnTo>
                <a:lnTo>
                  <a:pt x="719175" y="10057575"/>
                </a:lnTo>
                <a:lnTo>
                  <a:pt x="718896" y="10058399"/>
                </a:lnTo>
                <a:lnTo>
                  <a:pt x="8886444" y="10058399"/>
                </a:lnTo>
                <a:lnTo>
                  <a:pt x="539216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F97FE946-2BD7-40B8-A8F6-C05AB6631406}"/>
              </a:ext>
            </a:extLst>
          </p:cNvPr>
          <p:cNvSpPr txBox="1"/>
          <p:nvPr/>
        </p:nvSpPr>
        <p:spPr>
          <a:xfrm>
            <a:off x="381000" y="4953000"/>
            <a:ext cx="8001000" cy="27492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0956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kern="1200" spc="-4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Current examples of MODULAR CONSTRUCTION projects </a:t>
            </a:r>
            <a:endParaRPr lang="en-US" sz="53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9951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508" y="685800"/>
            <a:ext cx="278549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Strip</a:t>
            </a:r>
            <a:r>
              <a:rPr sz="3200" spc="-70" dirty="0"/>
              <a:t> </a:t>
            </a:r>
            <a:r>
              <a:rPr sz="3200" spc="-20" dirty="0"/>
              <a:t>Centers</a:t>
            </a:r>
            <a:endParaRPr sz="32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25" dirty="0"/>
              <a:t>Page</a:t>
            </a:r>
            <a:r>
              <a:rPr spc="-170" dirty="0"/>
              <a:t> </a:t>
            </a: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7858506" y="9314636"/>
            <a:ext cx="50393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Picture 10" descr="A sign on the side of a building&#10;&#10;Description generated with very high confidence">
            <a:extLst>
              <a:ext uri="{FF2B5EF4-FFF2-40B4-BE49-F238E27FC236}">
                <a16:creationId xmlns:a16="http://schemas.microsoft.com/office/drawing/2014/main" id="{6EB9B1B8-6A77-4162-833B-089A0B9238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02" y="1715235"/>
            <a:ext cx="5334000" cy="3773237"/>
          </a:xfrm>
          <a:prstGeom prst="rect">
            <a:avLst/>
          </a:prstGeom>
        </p:spPr>
      </p:pic>
      <p:pic>
        <p:nvPicPr>
          <p:cNvPr id="13" name="Picture 12" descr="A group of people standing in front of a building&#10;&#10;Description generated with very high confidence">
            <a:extLst>
              <a:ext uri="{FF2B5EF4-FFF2-40B4-BE49-F238E27FC236}">
                <a16:creationId xmlns:a16="http://schemas.microsoft.com/office/drawing/2014/main" id="{FFB9B2B2-B486-4FF3-8C3C-A04725295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366" y="450051"/>
            <a:ext cx="6281325" cy="4359279"/>
          </a:xfrm>
          <a:prstGeom prst="rect">
            <a:avLst/>
          </a:prstGeom>
        </p:spPr>
      </p:pic>
      <p:pic>
        <p:nvPicPr>
          <p:cNvPr id="15" name="Picture 14" descr="A group of people walking down a sidewalk in front of a store&#10;&#10;Description generated with very high confidence">
            <a:extLst>
              <a:ext uri="{FF2B5EF4-FFF2-40B4-BE49-F238E27FC236}">
                <a16:creationId xmlns:a16="http://schemas.microsoft.com/office/drawing/2014/main" id="{E3A6872D-ECE7-48FC-87A0-C8093BB67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531" y="5188756"/>
            <a:ext cx="6158163" cy="3421843"/>
          </a:xfrm>
          <a:prstGeom prst="rect">
            <a:avLst/>
          </a:prstGeom>
        </p:spPr>
      </p:pic>
      <p:pic>
        <p:nvPicPr>
          <p:cNvPr id="17" name="Picture 16" descr="A group of people in a city&#10;&#10;Description generated with very high confidence">
            <a:extLst>
              <a:ext uri="{FF2B5EF4-FFF2-40B4-BE49-F238E27FC236}">
                <a16:creationId xmlns:a16="http://schemas.microsoft.com/office/drawing/2014/main" id="{70219610-D4D9-49E8-BCBA-C0A9298F98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818160"/>
            <a:ext cx="5334000" cy="32377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0" y="381000"/>
            <a:ext cx="4593386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alibri"/>
                <a:cs typeface="Calibri"/>
              </a:rPr>
              <a:t>Housing</a:t>
            </a:r>
            <a:endParaRPr sz="3200" dirty="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Calibri"/>
                <a:cs typeface="Calibri"/>
              </a:rPr>
              <a:t>Multi Unit and Single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family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57927" y="8747023"/>
            <a:ext cx="2950210" cy="289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2050" spc="5" dirty="0">
                <a:solidFill>
                  <a:srgbClr val="9D9FA0"/>
                </a:solidFill>
                <a:latin typeface="Calibri"/>
                <a:cs typeface="Calibri"/>
              </a:rPr>
              <a:t>Modular </a:t>
            </a:r>
            <a:r>
              <a:rPr sz="2050" dirty="0">
                <a:solidFill>
                  <a:srgbClr val="9D9FA0"/>
                </a:solidFill>
                <a:latin typeface="Calibri"/>
                <a:cs typeface="Calibri"/>
              </a:rPr>
              <a:t>Construction</a:t>
            </a:r>
            <a:r>
              <a:rPr sz="2050" spc="-165" dirty="0">
                <a:solidFill>
                  <a:srgbClr val="9D9FA0"/>
                </a:solidFill>
                <a:latin typeface="Calibri"/>
                <a:cs typeface="Calibri"/>
              </a:rPr>
              <a:t> </a:t>
            </a:r>
            <a:r>
              <a:rPr sz="2050" spc="5" dirty="0">
                <a:solidFill>
                  <a:srgbClr val="9D9FA0"/>
                </a:solidFill>
                <a:latin typeface="Calibri"/>
                <a:cs typeface="Calibri"/>
              </a:rPr>
              <a:t>Apps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25" dirty="0"/>
              <a:t>Page</a:t>
            </a:r>
            <a:r>
              <a:rPr spc="-170" dirty="0"/>
              <a:t> </a:t>
            </a: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858506" y="9314636"/>
            <a:ext cx="50393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Picture 9" descr="A large building&#10;&#10;Description generated with very high confidence">
            <a:extLst>
              <a:ext uri="{FF2B5EF4-FFF2-40B4-BE49-F238E27FC236}">
                <a16:creationId xmlns:a16="http://schemas.microsoft.com/office/drawing/2014/main" id="{E4B18A50-9B9C-41BE-9A79-24A90022E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046" y="489764"/>
            <a:ext cx="4482746" cy="4482746"/>
          </a:xfrm>
          <a:prstGeom prst="rect">
            <a:avLst/>
          </a:prstGeom>
        </p:spPr>
      </p:pic>
      <p:pic>
        <p:nvPicPr>
          <p:cNvPr id="9" name="Picture 8" descr="A group of people standing in front of a building&#10;&#10;Description generated with very high confidence">
            <a:extLst>
              <a:ext uri="{FF2B5EF4-FFF2-40B4-BE49-F238E27FC236}">
                <a16:creationId xmlns:a16="http://schemas.microsoft.com/office/drawing/2014/main" id="{A4E2FDEA-2087-479E-AA0A-11349DBC3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391" y="5143340"/>
            <a:ext cx="8776475" cy="3325629"/>
          </a:xfrm>
          <a:prstGeom prst="rect">
            <a:avLst/>
          </a:prstGeom>
        </p:spPr>
      </p:pic>
      <p:pic>
        <p:nvPicPr>
          <p:cNvPr id="11" name="Imagen 1">
            <a:extLst>
              <a:ext uri="{FF2B5EF4-FFF2-40B4-BE49-F238E27FC236}">
                <a16:creationId xmlns:a16="http://schemas.microsoft.com/office/drawing/2014/main" id="{77E87C5B-AB5B-4952-A356-94E2EAB3DD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317" y="1912715"/>
            <a:ext cx="2608186" cy="7123868"/>
          </a:xfrm>
          <a:prstGeom prst="rect">
            <a:avLst/>
          </a:prstGeom>
        </p:spPr>
      </p:pic>
      <p:pic>
        <p:nvPicPr>
          <p:cNvPr id="4" name="Picture 3" descr="A picture containing sky, grass, building, outdoor&#10;&#10;Description generated with very high confidence">
            <a:extLst>
              <a:ext uri="{FF2B5EF4-FFF2-40B4-BE49-F238E27FC236}">
                <a16:creationId xmlns:a16="http://schemas.microsoft.com/office/drawing/2014/main" id="{0D289212-08DF-4EA6-BB32-D21A54EC29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493" y="2510945"/>
            <a:ext cx="4507506" cy="22095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79314" y="5212079"/>
            <a:ext cx="7738109" cy="4226560"/>
          </a:xfrm>
          <a:custGeom>
            <a:avLst/>
            <a:gdLst/>
            <a:ahLst/>
            <a:cxnLst/>
            <a:rect l="l" t="t" r="r" b="b"/>
            <a:pathLst>
              <a:path w="7738109" h="4226559">
                <a:moveTo>
                  <a:pt x="0" y="4226560"/>
                </a:moveTo>
                <a:lnTo>
                  <a:pt x="7738109" y="4226560"/>
                </a:lnTo>
                <a:lnTo>
                  <a:pt x="7738109" y="0"/>
                </a:lnTo>
                <a:lnTo>
                  <a:pt x="0" y="0"/>
                </a:lnTo>
                <a:lnTo>
                  <a:pt x="0" y="422656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116067" y="9551669"/>
            <a:ext cx="7927975" cy="0"/>
          </a:xfrm>
          <a:custGeom>
            <a:avLst/>
            <a:gdLst/>
            <a:ahLst/>
            <a:cxnLst/>
            <a:rect l="l" t="t" r="r" b="b"/>
            <a:pathLst>
              <a:path w="7927975">
                <a:moveTo>
                  <a:pt x="0" y="0"/>
                </a:moveTo>
                <a:lnTo>
                  <a:pt x="7927848" y="0"/>
                </a:lnTo>
              </a:path>
            </a:pathLst>
          </a:custGeom>
          <a:ln w="254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28704" y="5110479"/>
            <a:ext cx="0" cy="4428490"/>
          </a:xfrm>
          <a:custGeom>
            <a:avLst/>
            <a:gdLst/>
            <a:ahLst/>
            <a:cxnLst/>
            <a:rect l="l" t="t" r="r" b="b"/>
            <a:pathLst>
              <a:path h="4428490">
                <a:moveTo>
                  <a:pt x="0" y="0"/>
                </a:moveTo>
                <a:lnTo>
                  <a:pt x="0" y="4428490"/>
                </a:lnTo>
              </a:path>
            </a:pathLst>
          </a:custGeom>
          <a:ln w="2527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16067" y="5097779"/>
            <a:ext cx="7927975" cy="0"/>
          </a:xfrm>
          <a:custGeom>
            <a:avLst/>
            <a:gdLst/>
            <a:ahLst/>
            <a:cxnLst/>
            <a:rect l="l" t="t" r="r" b="b"/>
            <a:pathLst>
              <a:path w="7927975">
                <a:moveTo>
                  <a:pt x="0" y="0"/>
                </a:moveTo>
                <a:lnTo>
                  <a:pt x="7927848" y="0"/>
                </a:lnTo>
              </a:path>
            </a:pathLst>
          </a:custGeom>
          <a:ln w="254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31279" y="5110860"/>
            <a:ext cx="0" cy="4428490"/>
          </a:xfrm>
          <a:custGeom>
            <a:avLst/>
            <a:gdLst/>
            <a:ahLst/>
            <a:cxnLst/>
            <a:rect l="l" t="t" r="r" b="b"/>
            <a:pathLst>
              <a:path h="4428490">
                <a:moveTo>
                  <a:pt x="0" y="0"/>
                </a:moveTo>
                <a:lnTo>
                  <a:pt x="0" y="4428464"/>
                </a:lnTo>
              </a:path>
            </a:pathLst>
          </a:custGeom>
          <a:ln w="2527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66614" y="9476105"/>
            <a:ext cx="7827009" cy="0"/>
          </a:xfrm>
          <a:custGeom>
            <a:avLst/>
            <a:gdLst/>
            <a:ahLst/>
            <a:cxnLst/>
            <a:rect l="l" t="t" r="r" b="b"/>
            <a:pathLst>
              <a:path w="7827009">
                <a:moveTo>
                  <a:pt x="0" y="0"/>
                </a:moveTo>
                <a:lnTo>
                  <a:pt x="7826756" y="0"/>
                </a:lnTo>
              </a:path>
            </a:pathLst>
          </a:custGeom>
          <a:ln w="74929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04586" y="5212079"/>
            <a:ext cx="0" cy="4226560"/>
          </a:xfrm>
          <a:custGeom>
            <a:avLst/>
            <a:gdLst/>
            <a:ahLst/>
            <a:cxnLst/>
            <a:rect l="l" t="t" r="r" b="b"/>
            <a:pathLst>
              <a:path h="4226559">
                <a:moveTo>
                  <a:pt x="0" y="0"/>
                </a:moveTo>
                <a:lnTo>
                  <a:pt x="0" y="4226560"/>
                </a:lnTo>
              </a:path>
            </a:pathLst>
          </a:custGeom>
          <a:ln w="75946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66614" y="5173979"/>
            <a:ext cx="7827009" cy="0"/>
          </a:xfrm>
          <a:custGeom>
            <a:avLst/>
            <a:gdLst/>
            <a:ahLst/>
            <a:cxnLst/>
            <a:rect l="l" t="t" r="r" b="b"/>
            <a:pathLst>
              <a:path w="7827009">
                <a:moveTo>
                  <a:pt x="0" y="0"/>
                </a:moveTo>
                <a:lnTo>
                  <a:pt x="7826756" y="0"/>
                </a:lnTo>
              </a:path>
            </a:pathLst>
          </a:custGeom>
          <a:ln w="762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955396" y="5212079"/>
            <a:ext cx="0" cy="4226560"/>
          </a:xfrm>
          <a:custGeom>
            <a:avLst/>
            <a:gdLst/>
            <a:ahLst/>
            <a:cxnLst/>
            <a:rect l="l" t="t" r="r" b="b"/>
            <a:pathLst>
              <a:path h="4226559">
                <a:moveTo>
                  <a:pt x="0" y="0"/>
                </a:moveTo>
                <a:lnTo>
                  <a:pt x="0" y="4226052"/>
                </a:lnTo>
              </a:path>
            </a:pathLst>
          </a:custGeom>
          <a:ln w="75946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53278" y="7983473"/>
            <a:ext cx="7040880" cy="0"/>
          </a:xfrm>
          <a:custGeom>
            <a:avLst/>
            <a:gdLst/>
            <a:ahLst/>
            <a:cxnLst/>
            <a:rect l="l" t="t" r="r" b="b"/>
            <a:pathLst>
              <a:path w="7040880">
                <a:moveTo>
                  <a:pt x="0" y="0"/>
                </a:moveTo>
                <a:lnTo>
                  <a:pt x="7040880" y="0"/>
                </a:lnTo>
              </a:path>
            </a:pathLst>
          </a:custGeom>
          <a:ln w="2286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8995" y="5146547"/>
            <a:ext cx="4576572" cy="4439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8995" y="438912"/>
            <a:ext cx="4576445" cy="44729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777229" y="6780021"/>
            <a:ext cx="4998720" cy="955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100" b="0" spc="-25" dirty="0">
                <a:solidFill>
                  <a:srgbClr val="FFFFFF"/>
                </a:solidFill>
                <a:latin typeface="Calibri Light"/>
                <a:cs typeface="Calibri Light"/>
              </a:rPr>
              <a:t>Interior</a:t>
            </a:r>
            <a:r>
              <a:rPr sz="6100" b="0" spc="-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6100" b="0" spc="-5" dirty="0">
                <a:solidFill>
                  <a:srgbClr val="FFFFFF"/>
                </a:solidFill>
                <a:latin typeface="Calibri Light"/>
                <a:cs typeface="Calibri Light"/>
              </a:rPr>
              <a:t>Finishes</a:t>
            </a:r>
            <a:endParaRPr sz="6100">
              <a:latin typeface="Calibri Light"/>
              <a:cs typeface="Calibri Light"/>
            </a:endParaRPr>
          </a:p>
        </p:txBody>
      </p:sp>
      <p:pic>
        <p:nvPicPr>
          <p:cNvPr id="17" name="Picture 16" descr="A large room&#10;&#10;Description generated with very high confidence">
            <a:extLst>
              <a:ext uri="{FF2B5EF4-FFF2-40B4-BE49-F238E27FC236}">
                <a16:creationId xmlns:a16="http://schemas.microsoft.com/office/drawing/2014/main" id="{463E1732-11D3-46A1-9D23-4096EEAB75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470216"/>
            <a:ext cx="7621396" cy="44090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0356" y="1489710"/>
            <a:ext cx="298831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075" marR="5080" indent="-461009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Commercial Hotel  </a:t>
            </a:r>
            <a:r>
              <a:rPr sz="3200" spc="-5" dirty="0"/>
              <a:t>and </a:t>
            </a:r>
            <a:r>
              <a:rPr sz="3200" spc="-20" dirty="0"/>
              <a:t>Storage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457200" y="4730496"/>
            <a:ext cx="4849368" cy="3631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95161" y="731065"/>
            <a:ext cx="5584443" cy="37245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57927" y="8747023"/>
            <a:ext cx="2950210" cy="289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2050" spc="5" dirty="0">
                <a:solidFill>
                  <a:srgbClr val="9D9FA0"/>
                </a:solidFill>
                <a:latin typeface="Calibri"/>
                <a:cs typeface="Calibri"/>
              </a:rPr>
              <a:t>Modular </a:t>
            </a:r>
            <a:r>
              <a:rPr sz="2050" dirty="0">
                <a:solidFill>
                  <a:srgbClr val="9D9FA0"/>
                </a:solidFill>
                <a:latin typeface="Calibri"/>
                <a:cs typeface="Calibri"/>
              </a:rPr>
              <a:t>Construction</a:t>
            </a:r>
            <a:r>
              <a:rPr sz="2050" spc="-165" dirty="0">
                <a:solidFill>
                  <a:srgbClr val="9D9FA0"/>
                </a:solidFill>
                <a:latin typeface="Calibri"/>
                <a:cs typeface="Calibri"/>
              </a:rPr>
              <a:t> </a:t>
            </a:r>
            <a:r>
              <a:rPr sz="2050" spc="5" dirty="0">
                <a:solidFill>
                  <a:srgbClr val="9D9FA0"/>
                </a:solidFill>
                <a:latin typeface="Calibri"/>
                <a:cs typeface="Calibri"/>
              </a:rPr>
              <a:t>Apps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25" dirty="0"/>
              <a:t>Page</a:t>
            </a:r>
            <a:r>
              <a:rPr spc="-170" dirty="0"/>
              <a:t> </a:t>
            </a: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7858506" y="9314636"/>
            <a:ext cx="50393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Picture 7" descr="A tall building in a city&#10;&#10;Description generated with very high confidence">
            <a:extLst>
              <a:ext uri="{FF2B5EF4-FFF2-40B4-BE49-F238E27FC236}">
                <a16:creationId xmlns:a16="http://schemas.microsoft.com/office/drawing/2014/main" id="{4F96346F-4ABD-4819-B935-07CBC800A5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4705873"/>
            <a:ext cx="7543800" cy="35406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018159"/>
            <a:ext cx="19761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Office</a:t>
            </a:r>
            <a:r>
              <a:rPr sz="3200" spc="-65" dirty="0"/>
              <a:t> </a:t>
            </a:r>
            <a:r>
              <a:rPr sz="3200" spc="-25" dirty="0"/>
              <a:t>Parks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257927" y="8681110"/>
            <a:ext cx="2950210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5" dirty="0">
                <a:solidFill>
                  <a:srgbClr val="9D9FA0"/>
                </a:solidFill>
                <a:latin typeface="Calibri"/>
                <a:cs typeface="Calibri"/>
              </a:rPr>
              <a:t>Modular </a:t>
            </a:r>
            <a:r>
              <a:rPr sz="2050" dirty="0">
                <a:solidFill>
                  <a:srgbClr val="9D9FA0"/>
                </a:solidFill>
                <a:latin typeface="Calibri"/>
                <a:cs typeface="Calibri"/>
              </a:rPr>
              <a:t>Construction</a:t>
            </a:r>
            <a:r>
              <a:rPr sz="2050" spc="-165" dirty="0">
                <a:solidFill>
                  <a:srgbClr val="9D9FA0"/>
                </a:solidFill>
                <a:latin typeface="Calibri"/>
                <a:cs typeface="Calibri"/>
              </a:rPr>
              <a:t> </a:t>
            </a:r>
            <a:r>
              <a:rPr sz="2050" spc="5" dirty="0">
                <a:solidFill>
                  <a:srgbClr val="9D9FA0"/>
                </a:solidFill>
                <a:latin typeface="Calibri"/>
                <a:cs typeface="Calibri"/>
              </a:rPr>
              <a:t>Apps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6027" y="1920239"/>
            <a:ext cx="4831080" cy="2705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1560" y="4832603"/>
            <a:ext cx="4602480" cy="33268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96911" y="1741932"/>
            <a:ext cx="4634484" cy="6458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58506" y="8990024"/>
            <a:ext cx="5039360" cy="648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1810"/>
              </a:lnSpc>
            </a:pPr>
            <a:r>
              <a:rPr sz="1800" spc="-25" dirty="0">
                <a:solidFill>
                  <a:srgbClr val="888888"/>
                </a:solidFill>
                <a:latin typeface="Calibri"/>
                <a:cs typeface="Calibri"/>
              </a:rPr>
              <a:t>Page</a:t>
            </a:r>
            <a:r>
              <a:rPr sz="1800" spc="-1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100" dirty="0">
                <a:solidFill>
                  <a:srgbClr val="888888"/>
                </a:solidFill>
                <a:latin typeface="Calibri"/>
                <a:cs typeface="Calibri"/>
              </a:rPr>
              <a:t>reserve</a:t>
            </a:r>
            <a:r>
              <a:rPr sz="2700" spc="-150" baseline="-16975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r>
              <a:rPr sz="1800" spc="-100" dirty="0">
                <a:solidFill>
                  <a:srgbClr val="888888"/>
                </a:solidFill>
                <a:latin typeface="Calibri"/>
                <a:cs typeface="Calibri"/>
              </a:rPr>
              <a:t>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tall building&#10;&#10;Description generated with high confidence">
            <a:extLst>
              <a:ext uri="{FF2B5EF4-FFF2-40B4-BE49-F238E27FC236}">
                <a16:creationId xmlns:a16="http://schemas.microsoft.com/office/drawing/2014/main" id="{022A0E19-F633-4F57-8BE8-6C0419792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420" y="9293"/>
            <a:ext cx="6779618" cy="5553307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7522464" y="6236207"/>
            <a:ext cx="5888735" cy="3822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0415270" cy="10058400"/>
          </a:xfrm>
          <a:custGeom>
            <a:avLst/>
            <a:gdLst/>
            <a:ahLst/>
            <a:cxnLst/>
            <a:rect l="l" t="t" r="r" b="b"/>
            <a:pathLst>
              <a:path w="10415270" h="10058400">
                <a:moveTo>
                  <a:pt x="6921246" y="0"/>
                </a:moveTo>
                <a:lnTo>
                  <a:pt x="0" y="0"/>
                </a:lnTo>
                <a:lnTo>
                  <a:pt x="0" y="10057574"/>
                </a:lnTo>
                <a:lnTo>
                  <a:pt x="2248789" y="10057574"/>
                </a:lnTo>
                <a:lnTo>
                  <a:pt x="2248408" y="10058399"/>
                </a:lnTo>
                <a:lnTo>
                  <a:pt x="10415016" y="10058399"/>
                </a:lnTo>
                <a:lnTo>
                  <a:pt x="6921246" y="0"/>
                </a:lnTo>
                <a:close/>
              </a:path>
            </a:pathLst>
          </a:custGeom>
          <a:solidFill>
            <a:srgbClr val="252525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8886825" cy="10058400"/>
          </a:xfrm>
          <a:custGeom>
            <a:avLst/>
            <a:gdLst/>
            <a:ahLst/>
            <a:cxnLst/>
            <a:rect l="l" t="t" r="r" b="b"/>
            <a:pathLst>
              <a:path w="8886825" h="10058400">
                <a:moveTo>
                  <a:pt x="5392166" y="0"/>
                </a:moveTo>
                <a:lnTo>
                  <a:pt x="0" y="0"/>
                </a:lnTo>
                <a:lnTo>
                  <a:pt x="0" y="10057575"/>
                </a:lnTo>
                <a:lnTo>
                  <a:pt x="719175" y="10057575"/>
                </a:lnTo>
                <a:lnTo>
                  <a:pt x="718896" y="10058399"/>
                </a:lnTo>
                <a:lnTo>
                  <a:pt x="8886444" y="10058399"/>
                </a:lnTo>
                <a:lnTo>
                  <a:pt x="539216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F97FE946-2BD7-40B8-A8F6-C05AB6631406}"/>
              </a:ext>
            </a:extLst>
          </p:cNvPr>
          <p:cNvSpPr txBox="1"/>
          <p:nvPr/>
        </p:nvSpPr>
        <p:spPr>
          <a:xfrm>
            <a:off x="381000" y="4953000"/>
            <a:ext cx="8001000" cy="27492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0956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kern="1200" spc="-4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EXHIBIUM DESIGNS for MODULAR CONSTRUCTION projects.</a:t>
            </a:r>
            <a:endParaRPr lang="en-US" sz="53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31148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1143000"/>
            <a:ext cx="10111740" cy="1263650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133090">
              <a:lnSpc>
                <a:spcPts val="4735"/>
              </a:lnSpc>
            </a:pPr>
            <a:r>
              <a:rPr sz="4050" b="1" spc="-5" dirty="0">
                <a:latin typeface="Calibri"/>
                <a:cs typeface="Calibri"/>
              </a:rPr>
              <a:t>Exhibium </a:t>
            </a:r>
            <a:r>
              <a:rPr sz="4050" b="1" spc="-10" dirty="0">
                <a:latin typeface="Calibri"/>
                <a:cs typeface="Calibri"/>
              </a:rPr>
              <a:t>DESIGN</a:t>
            </a:r>
            <a:r>
              <a:rPr sz="4050" b="1" spc="-7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PROTOTYPES</a:t>
            </a:r>
            <a:endParaRPr sz="4050">
              <a:latin typeface="Calibri"/>
              <a:cs typeface="Calibri"/>
            </a:endParaRPr>
          </a:p>
          <a:p>
            <a:pPr marL="1052195">
              <a:lnSpc>
                <a:spcPct val="100000"/>
              </a:lnSpc>
              <a:tabLst>
                <a:tab pos="2658745" algn="l"/>
              </a:tabLst>
            </a:pPr>
            <a:r>
              <a:rPr sz="4050" b="1" spc="-5" dirty="0">
                <a:latin typeface="Calibri"/>
                <a:cs typeface="Calibri"/>
              </a:rPr>
              <a:t>USING	</a:t>
            </a:r>
            <a:r>
              <a:rPr sz="4050" b="1" spc="-10" dirty="0">
                <a:latin typeface="Calibri"/>
                <a:cs typeface="Calibri"/>
              </a:rPr>
              <a:t>MODULAR CORE</a:t>
            </a:r>
            <a:r>
              <a:rPr sz="4050" b="1" spc="-11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STRUCTURES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0" y="3468623"/>
            <a:ext cx="9296400" cy="5131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761" y="2667761"/>
            <a:ext cx="11963400" cy="609600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 marL="394970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Strip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Centers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2819400"/>
            <a:ext cx="5603748" cy="289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58506" y="8990024"/>
            <a:ext cx="5039360" cy="579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25" dirty="0">
                <a:solidFill>
                  <a:srgbClr val="888888"/>
                </a:solidFill>
                <a:latin typeface="Calibri"/>
                <a:cs typeface="Calibri"/>
              </a:rPr>
              <a:t>Page</a:t>
            </a:r>
            <a:r>
              <a:rPr sz="1800" spc="-1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fld id="{81D60167-4931-47E6-BA6A-407CBD079E47}" type="slidenum"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11</a:t>
            </a:fld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1143000"/>
            <a:ext cx="10111740" cy="1263650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074670">
              <a:lnSpc>
                <a:spcPts val="4735"/>
              </a:lnSpc>
            </a:pPr>
            <a:r>
              <a:rPr sz="4050" b="1" spc="-5" dirty="0">
                <a:latin typeface="Calibri"/>
                <a:cs typeface="Calibri"/>
              </a:rPr>
              <a:t>Exhibium </a:t>
            </a:r>
            <a:r>
              <a:rPr sz="4050" b="1" spc="-10" dirty="0">
                <a:latin typeface="Calibri"/>
                <a:cs typeface="Calibri"/>
              </a:rPr>
              <a:t>DESIGN</a:t>
            </a:r>
            <a:r>
              <a:rPr sz="4050" b="1" spc="-7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PROTOTYPES</a:t>
            </a:r>
            <a:endParaRPr sz="4050">
              <a:latin typeface="Calibri"/>
              <a:cs typeface="Calibri"/>
            </a:endParaRPr>
          </a:p>
          <a:p>
            <a:pPr marL="1052195">
              <a:lnSpc>
                <a:spcPct val="100000"/>
              </a:lnSpc>
              <a:tabLst>
                <a:tab pos="2658745" algn="l"/>
              </a:tabLst>
            </a:pPr>
            <a:r>
              <a:rPr sz="4050" b="1" spc="-5" dirty="0">
                <a:latin typeface="Calibri"/>
                <a:cs typeface="Calibri"/>
              </a:rPr>
              <a:t>USING	</a:t>
            </a:r>
            <a:r>
              <a:rPr sz="4050" b="1" spc="-10" dirty="0">
                <a:latin typeface="Calibri"/>
                <a:cs typeface="Calibri"/>
              </a:rPr>
              <a:t>MODULAR CORE</a:t>
            </a:r>
            <a:r>
              <a:rPr sz="4050" b="1" spc="-11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STRUCTURES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761" y="2667761"/>
            <a:ext cx="11963400" cy="609600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 marL="394970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Hotel and </a:t>
            </a:r>
            <a:r>
              <a:rPr sz="2800" spc="-15" dirty="0">
                <a:latin typeface="Calibri"/>
                <a:cs typeface="Calibri"/>
              </a:rPr>
              <a:t>Student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Dorms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19200" y="2667000"/>
            <a:ext cx="7467600" cy="5279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33459" y="4797552"/>
            <a:ext cx="3154679" cy="3557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58506" y="8990024"/>
            <a:ext cx="5039360" cy="579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25" dirty="0">
                <a:solidFill>
                  <a:srgbClr val="888888"/>
                </a:solidFill>
                <a:latin typeface="Calibri"/>
                <a:cs typeface="Calibri"/>
              </a:rPr>
              <a:t>Page</a:t>
            </a:r>
            <a:r>
              <a:rPr sz="1800" spc="-1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fld id="{81D60167-4931-47E6-BA6A-407CBD079E47}" type="slidenum"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12</a:t>
            </a:fld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1143000"/>
            <a:ext cx="10111740" cy="1263650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074670">
              <a:lnSpc>
                <a:spcPts val="4735"/>
              </a:lnSpc>
            </a:pPr>
            <a:r>
              <a:rPr sz="4050" b="1" spc="-5" dirty="0">
                <a:latin typeface="Calibri"/>
                <a:cs typeface="Calibri"/>
              </a:rPr>
              <a:t>Exhibium </a:t>
            </a:r>
            <a:r>
              <a:rPr sz="4050" b="1" spc="-10" dirty="0">
                <a:latin typeface="Calibri"/>
                <a:cs typeface="Calibri"/>
              </a:rPr>
              <a:t>DESIGN</a:t>
            </a:r>
            <a:r>
              <a:rPr sz="4050" b="1" spc="-7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PROTOTYPES</a:t>
            </a:r>
            <a:endParaRPr sz="4050">
              <a:latin typeface="Calibri"/>
              <a:cs typeface="Calibri"/>
            </a:endParaRPr>
          </a:p>
          <a:p>
            <a:pPr marL="1052195">
              <a:lnSpc>
                <a:spcPct val="100000"/>
              </a:lnSpc>
              <a:tabLst>
                <a:tab pos="2658745" algn="l"/>
              </a:tabLst>
            </a:pPr>
            <a:r>
              <a:rPr sz="4050" b="1" spc="-5" dirty="0">
                <a:latin typeface="Calibri"/>
                <a:cs typeface="Calibri"/>
              </a:rPr>
              <a:t>USING	</a:t>
            </a:r>
            <a:r>
              <a:rPr sz="4050" b="1" spc="-10" dirty="0">
                <a:latin typeface="Calibri"/>
                <a:cs typeface="Calibri"/>
              </a:rPr>
              <a:t>MODULAR CORE</a:t>
            </a:r>
            <a:r>
              <a:rPr sz="4050" b="1" spc="-11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STRUCTURES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761" y="2667761"/>
            <a:ext cx="11963400" cy="609600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 marL="394970">
              <a:lnSpc>
                <a:spcPct val="100000"/>
              </a:lnSpc>
            </a:pPr>
            <a:r>
              <a:rPr lang="en-US" sz="2800" spc="-10" dirty="0">
                <a:latin typeface="Calibri"/>
                <a:cs typeface="Calibri"/>
              </a:rPr>
              <a:t>Housing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58506" y="8990024"/>
            <a:ext cx="5039360" cy="579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25" dirty="0">
                <a:solidFill>
                  <a:srgbClr val="888888"/>
                </a:solidFill>
                <a:latin typeface="Calibri"/>
                <a:cs typeface="Calibri"/>
              </a:rPr>
              <a:t>Page</a:t>
            </a:r>
            <a:r>
              <a:rPr sz="1800" spc="-1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fld id="{81D60167-4931-47E6-BA6A-407CBD079E47}" type="slidenum"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13</a:t>
            </a:fld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C13C414D-6CBB-456B-A588-AFF8D3AF18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3" b="12153"/>
          <a:stretch/>
        </p:blipFill>
        <p:spPr>
          <a:xfrm>
            <a:off x="5181600" y="4317392"/>
            <a:ext cx="6920465" cy="3924636"/>
          </a:xfrm>
          <a:prstGeom prst="rect">
            <a:avLst/>
          </a:prstGeom>
        </p:spPr>
      </p:pic>
      <p:pic>
        <p:nvPicPr>
          <p:cNvPr id="7" name="Imagen 3">
            <a:extLst>
              <a:ext uri="{FF2B5EF4-FFF2-40B4-BE49-F238E27FC236}">
                <a16:creationId xmlns:a16="http://schemas.microsoft.com/office/drawing/2014/main" id="{5071A849-DEDC-4C98-B7FF-44A51ED0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39" y="2838245"/>
            <a:ext cx="4495800" cy="3371850"/>
          </a:xfrm>
          <a:prstGeom prst="rect">
            <a:avLst/>
          </a:prstGeom>
        </p:spPr>
      </p:pic>
      <p:pic>
        <p:nvPicPr>
          <p:cNvPr id="10" name="Imagen 2">
            <a:extLst>
              <a:ext uri="{FF2B5EF4-FFF2-40B4-BE49-F238E27FC236}">
                <a16:creationId xmlns:a16="http://schemas.microsoft.com/office/drawing/2014/main" id="{734B3D34-F833-4F1E-99D3-10D6A23AE2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6346517"/>
            <a:ext cx="2347704" cy="206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15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2667761"/>
            <a:ext cx="11963400" cy="6096000"/>
          </a:xfrm>
          <a:custGeom>
            <a:avLst/>
            <a:gdLst/>
            <a:ahLst/>
            <a:cxnLst/>
            <a:rect l="l" t="t" r="r" b="b"/>
            <a:pathLst>
              <a:path w="11963400" h="6096000">
                <a:moveTo>
                  <a:pt x="0" y="6096000"/>
                </a:moveTo>
                <a:lnTo>
                  <a:pt x="11963400" y="6096000"/>
                </a:lnTo>
                <a:lnTo>
                  <a:pt x="11963400" y="0"/>
                </a:lnTo>
                <a:lnTo>
                  <a:pt x="0" y="0"/>
                </a:lnTo>
                <a:lnTo>
                  <a:pt x="0" y="609600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76400" y="1143000"/>
            <a:ext cx="10111740" cy="1263650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074670">
              <a:lnSpc>
                <a:spcPts val="4735"/>
              </a:lnSpc>
            </a:pPr>
            <a:r>
              <a:rPr sz="4050" b="1" spc="-5" dirty="0">
                <a:latin typeface="Calibri"/>
                <a:cs typeface="Calibri"/>
              </a:rPr>
              <a:t>Exhibium </a:t>
            </a:r>
            <a:r>
              <a:rPr sz="4050" b="1" spc="-10" dirty="0">
                <a:latin typeface="Calibri"/>
                <a:cs typeface="Calibri"/>
              </a:rPr>
              <a:t>DESIGN</a:t>
            </a:r>
            <a:r>
              <a:rPr sz="4050" b="1" spc="-7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PROTOTYPES</a:t>
            </a:r>
            <a:endParaRPr sz="4050">
              <a:latin typeface="Calibri"/>
              <a:cs typeface="Calibri"/>
            </a:endParaRPr>
          </a:p>
          <a:p>
            <a:pPr marL="1052195">
              <a:lnSpc>
                <a:spcPct val="100000"/>
              </a:lnSpc>
              <a:tabLst>
                <a:tab pos="2658745" algn="l"/>
              </a:tabLst>
            </a:pPr>
            <a:r>
              <a:rPr sz="4050" b="1" spc="-5" dirty="0">
                <a:latin typeface="Calibri"/>
                <a:cs typeface="Calibri"/>
              </a:rPr>
              <a:t>USING	</a:t>
            </a:r>
            <a:r>
              <a:rPr sz="4050" b="1" spc="-10" dirty="0">
                <a:latin typeface="Calibri"/>
                <a:cs typeface="Calibri"/>
              </a:rPr>
              <a:t>MODULAR CORE</a:t>
            </a:r>
            <a:r>
              <a:rPr sz="4050" b="1" spc="-11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STRUCTURES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8088630"/>
            <a:ext cx="27641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Calibri"/>
                <a:cs typeface="Calibri"/>
              </a:rPr>
              <a:t>Residential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Condos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58506" y="8990024"/>
            <a:ext cx="5039360" cy="579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25" dirty="0">
                <a:solidFill>
                  <a:srgbClr val="888888"/>
                </a:solidFill>
                <a:latin typeface="Calibri"/>
                <a:cs typeface="Calibri"/>
              </a:rPr>
              <a:t>Page</a:t>
            </a:r>
            <a:r>
              <a:rPr sz="1800" spc="-1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fld id="{81D60167-4931-47E6-BA6A-407CBD079E47}" type="slidenum"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14</a:t>
            </a:fld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Imagen 3">
            <a:extLst>
              <a:ext uri="{FF2B5EF4-FFF2-40B4-BE49-F238E27FC236}">
                <a16:creationId xmlns:a16="http://schemas.microsoft.com/office/drawing/2014/main" id="{BDD3688B-7640-4896-AA2F-8D73A7AF2D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811336"/>
            <a:ext cx="8571433" cy="527729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995894" y="2811336"/>
            <a:ext cx="3962400" cy="297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1143000"/>
            <a:ext cx="10111740" cy="1263650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074670">
              <a:lnSpc>
                <a:spcPts val="4735"/>
              </a:lnSpc>
            </a:pPr>
            <a:r>
              <a:rPr sz="4050" b="1" spc="-5" dirty="0">
                <a:latin typeface="Calibri"/>
                <a:cs typeface="Calibri"/>
              </a:rPr>
              <a:t>Exhibium </a:t>
            </a:r>
            <a:r>
              <a:rPr sz="4050" b="1" spc="-10" dirty="0">
                <a:latin typeface="Calibri"/>
                <a:cs typeface="Calibri"/>
              </a:rPr>
              <a:t>DESIGN</a:t>
            </a:r>
            <a:r>
              <a:rPr sz="4050" b="1" spc="-7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PROTOTYPES</a:t>
            </a:r>
            <a:endParaRPr sz="4050">
              <a:latin typeface="Calibri"/>
              <a:cs typeface="Calibri"/>
            </a:endParaRPr>
          </a:p>
          <a:p>
            <a:pPr marL="1052195">
              <a:lnSpc>
                <a:spcPct val="100000"/>
              </a:lnSpc>
              <a:tabLst>
                <a:tab pos="2658745" algn="l"/>
              </a:tabLst>
            </a:pPr>
            <a:r>
              <a:rPr sz="4050" b="1" spc="-5" dirty="0">
                <a:latin typeface="Calibri"/>
                <a:cs typeface="Calibri"/>
              </a:rPr>
              <a:t>USING	</a:t>
            </a:r>
            <a:r>
              <a:rPr sz="4050" b="1" spc="-10" dirty="0">
                <a:latin typeface="Calibri"/>
                <a:cs typeface="Calibri"/>
              </a:rPr>
              <a:t>MODULAR CORE</a:t>
            </a:r>
            <a:r>
              <a:rPr sz="4050" b="1" spc="-11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STRUCTURES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761" y="2667761"/>
            <a:ext cx="11963400" cy="609600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 marL="394970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Self </a:t>
            </a:r>
            <a:r>
              <a:rPr sz="2800" spc="-25" dirty="0">
                <a:latin typeface="Calibri"/>
                <a:cs typeface="Calibri"/>
              </a:rPr>
              <a:t>Storage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5839" y="2834639"/>
            <a:ext cx="7549896" cy="53492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58506" y="8990024"/>
            <a:ext cx="5039360" cy="579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25" dirty="0">
                <a:solidFill>
                  <a:srgbClr val="888888"/>
                </a:solidFill>
                <a:latin typeface="Calibri"/>
                <a:cs typeface="Calibri"/>
              </a:rPr>
              <a:t>Page</a:t>
            </a:r>
            <a:r>
              <a:rPr sz="1800" spc="-1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fld id="{81D60167-4931-47E6-BA6A-407CBD079E47}" type="slidenum"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15</a:t>
            </a:fld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Picture 8" descr="A close up of a building&#10;&#10;Description generated with high confidence">
            <a:extLst>
              <a:ext uri="{FF2B5EF4-FFF2-40B4-BE49-F238E27FC236}">
                <a16:creationId xmlns:a16="http://schemas.microsoft.com/office/drawing/2014/main" id="{9B961118-F226-40D4-8CD1-7058F6ED7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948" y="3069772"/>
            <a:ext cx="3429000" cy="1959428"/>
          </a:xfrm>
          <a:prstGeom prst="rect">
            <a:avLst/>
          </a:prstGeom>
        </p:spPr>
      </p:pic>
      <p:pic>
        <p:nvPicPr>
          <p:cNvPr id="11" name="Picture 10" descr="A close up of a cage&#10;&#10;Description generated with high confidence">
            <a:extLst>
              <a:ext uri="{FF2B5EF4-FFF2-40B4-BE49-F238E27FC236}">
                <a16:creationId xmlns:a16="http://schemas.microsoft.com/office/drawing/2014/main" id="{C04DD6E9-1165-4A48-A241-5EED839A9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5474768"/>
            <a:ext cx="3429000" cy="22680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1143000"/>
            <a:ext cx="10111740" cy="1263650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074670">
              <a:lnSpc>
                <a:spcPts val="4735"/>
              </a:lnSpc>
            </a:pPr>
            <a:r>
              <a:rPr sz="4050" b="1" spc="-5" dirty="0">
                <a:latin typeface="Calibri"/>
                <a:cs typeface="Calibri"/>
              </a:rPr>
              <a:t>Exhibium </a:t>
            </a:r>
            <a:r>
              <a:rPr sz="4050" b="1" spc="-10" dirty="0">
                <a:latin typeface="Calibri"/>
                <a:cs typeface="Calibri"/>
              </a:rPr>
              <a:t>DESIGN</a:t>
            </a:r>
            <a:r>
              <a:rPr sz="4050" b="1" spc="-7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PROTOTYPES</a:t>
            </a:r>
            <a:endParaRPr sz="4050">
              <a:latin typeface="Calibri"/>
              <a:cs typeface="Calibri"/>
            </a:endParaRPr>
          </a:p>
          <a:p>
            <a:pPr marL="1052195">
              <a:lnSpc>
                <a:spcPct val="100000"/>
              </a:lnSpc>
              <a:tabLst>
                <a:tab pos="2658745" algn="l"/>
              </a:tabLst>
            </a:pPr>
            <a:r>
              <a:rPr sz="4050" b="1" spc="-5" dirty="0">
                <a:latin typeface="Calibri"/>
                <a:cs typeface="Calibri"/>
              </a:rPr>
              <a:t>USING	</a:t>
            </a:r>
            <a:r>
              <a:rPr sz="4050" b="1" spc="-10" dirty="0">
                <a:latin typeface="Calibri"/>
                <a:cs typeface="Calibri"/>
              </a:rPr>
              <a:t>MODULAR CORE</a:t>
            </a:r>
            <a:r>
              <a:rPr sz="4050" b="1" spc="-110" dirty="0">
                <a:latin typeface="Calibri"/>
                <a:cs typeface="Calibri"/>
              </a:rPr>
              <a:t> </a:t>
            </a:r>
            <a:r>
              <a:rPr sz="4050" b="1" spc="-10" dirty="0">
                <a:latin typeface="Calibri"/>
                <a:cs typeface="Calibri"/>
              </a:rPr>
              <a:t>STRUCTURES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761" y="2667761"/>
            <a:ext cx="11963400" cy="609600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 marL="394970">
              <a:lnSpc>
                <a:spcPct val="100000"/>
              </a:lnSpc>
            </a:pPr>
            <a:r>
              <a:rPr lang="en-US" sz="2800" spc="-10" dirty="0">
                <a:latin typeface="Calibri"/>
                <a:cs typeface="Calibri"/>
              </a:rPr>
              <a:t>Food Plaza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58506" y="8990024"/>
            <a:ext cx="5039360" cy="579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25" dirty="0">
                <a:solidFill>
                  <a:srgbClr val="888888"/>
                </a:solidFill>
                <a:latin typeface="Calibri"/>
                <a:cs typeface="Calibri"/>
              </a:rPr>
              <a:t>Page</a:t>
            </a:r>
            <a:r>
              <a:rPr sz="1800" spc="-1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fld id="{81D60167-4931-47E6-BA6A-407CBD079E47}" type="slidenum"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16</a:t>
            </a:fld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800" spc="-20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© 2017 </a:t>
            </a: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DA5C3-1A7A-4CF8-9696-5D3BC766A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46" y="3262312"/>
            <a:ext cx="11287254" cy="489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34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tall building&#10;&#10;Description generated with high confidence">
            <a:extLst>
              <a:ext uri="{FF2B5EF4-FFF2-40B4-BE49-F238E27FC236}">
                <a16:creationId xmlns:a16="http://schemas.microsoft.com/office/drawing/2014/main" id="{022A0E19-F633-4F57-8BE8-6C0419792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420" y="9293"/>
            <a:ext cx="6779618" cy="5553307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7522464" y="6236207"/>
            <a:ext cx="5888735" cy="3822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0415270" cy="10058400"/>
          </a:xfrm>
          <a:custGeom>
            <a:avLst/>
            <a:gdLst/>
            <a:ahLst/>
            <a:cxnLst/>
            <a:rect l="l" t="t" r="r" b="b"/>
            <a:pathLst>
              <a:path w="10415270" h="10058400">
                <a:moveTo>
                  <a:pt x="6921246" y="0"/>
                </a:moveTo>
                <a:lnTo>
                  <a:pt x="0" y="0"/>
                </a:lnTo>
                <a:lnTo>
                  <a:pt x="0" y="10057574"/>
                </a:lnTo>
                <a:lnTo>
                  <a:pt x="2248789" y="10057574"/>
                </a:lnTo>
                <a:lnTo>
                  <a:pt x="2248408" y="10058399"/>
                </a:lnTo>
                <a:lnTo>
                  <a:pt x="10415016" y="10058399"/>
                </a:lnTo>
                <a:lnTo>
                  <a:pt x="6921246" y="0"/>
                </a:lnTo>
                <a:close/>
              </a:path>
            </a:pathLst>
          </a:custGeom>
          <a:solidFill>
            <a:srgbClr val="252525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8886825" cy="10058400"/>
          </a:xfrm>
          <a:custGeom>
            <a:avLst/>
            <a:gdLst/>
            <a:ahLst/>
            <a:cxnLst/>
            <a:rect l="l" t="t" r="r" b="b"/>
            <a:pathLst>
              <a:path w="8886825" h="10058400">
                <a:moveTo>
                  <a:pt x="5392166" y="0"/>
                </a:moveTo>
                <a:lnTo>
                  <a:pt x="0" y="0"/>
                </a:lnTo>
                <a:lnTo>
                  <a:pt x="0" y="10057575"/>
                </a:lnTo>
                <a:lnTo>
                  <a:pt x="719175" y="10057575"/>
                </a:lnTo>
                <a:lnTo>
                  <a:pt x="718896" y="10058399"/>
                </a:lnTo>
                <a:lnTo>
                  <a:pt x="8886444" y="10058399"/>
                </a:lnTo>
                <a:lnTo>
                  <a:pt x="539216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F97FE946-2BD7-40B8-A8F6-C05AB6631406}"/>
              </a:ext>
            </a:extLst>
          </p:cNvPr>
          <p:cNvSpPr txBox="1"/>
          <p:nvPr/>
        </p:nvSpPr>
        <p:spPr>
          <a:xfrm>
            <a:off x="381000" y="4953000"/>
            <a:ext cx="8001000" cy="27492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0956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kern="1200" spc="-4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EXHIBIUM </a:t>
            </a:r>
          </a:p>
          <a:p>
            <a:pPr marL="10956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spc="-4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		</a:t>
            </a:r>
            <a:r>
              <a:rPr lang="en-US" sz="5300" kern="1200" spc="-4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LETS TALK</a:t>
            </a:r>
            <a:endParaRPr lang="en-US" sz="53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8303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1237</TotalTime>
  <Words>339</Words>
  <Application>Microsoft Office PowerPoint</Application>
  <PresentationFormat>Custom</PresentationFormat>
  <Paragraphs>132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Core Structure</vt:lpstr>
      <vt:lpstr>Erectors</vt:lpstr>
      <vt:lpstr>PowerPoint Presentation</vt:lpstr>
      <vt:lpstr>Strip Centers</vt:lpstr>
      <vt:lpstr>PowerPoint Presentation</vt:lpstr>
      <vt:lpstr>PowerPoint Presentation</vt:lpstr>
      <vt:lpstr>Commercial Hotel  and Storage</vt:lpstr>
      <vt:lpstr>Office Parks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2017-02-21 PLAZA DE ENVASE ESTUDIO.pdf</dc:title>
  <dc:creator>Mauricio</dc:creator>
  <cp:lastModifiedBy>Fernando</cp:lastModifiedBy>
  <cp:revision>25</cp:revision>
  <dcterms:created xsi:type="dcterms:W3CDTF">2018-03-08T14:42:48Z</dcterms:created>
  <dcterms:modified xsi:type="dcterms:W3CDTF">2020-01-22T10:28:39Z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2018-03-08T00:00:00Z</vt:filetime>
  </property>
</Properties>
</file>