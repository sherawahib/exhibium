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5.jpg" ContentType="image/jpeg"/>
  <Override PartName="/ppt/media/image8.JPG" ContentType="image/jpeg"/>
  <Override PartName="/ppt/media/image9.jpg" ContentType="image/jpeg"/>
  <Override PartName="/ppt/media/image10.jpg" ContentType="image/jpeg"/>
  <Override PartName="/ppt/media/image13.jpg" ContentType="image/jpeg"/>
  <Override PartName="/ppt/media/image14.jpg" ContentType="image/jpeg"/>
  <Override PartName="/ppt/media/image16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2"/>
  </p:sldMasterIdLst>
  <p:notesMasterIdLst>
    <p:notesMasterId r:id="rId12"/>
  </p:notesMasterIdLst>
  <p:handoutMasterIdLst>
    <p:handoutMasterId r:id="rId13"/>
  </p:handoutMasterIdLst>
  <p:sldIdLst>
    <p:sldId id="256" r:id="rId3"/>
    <p:sldId id="333" r:id="rId4"/>
    <p:sldId id="327" r:id="rId5"/>
    <p:sldId id="324" r:id="rId6"/>
    <p:sldId id="258" r:id="rId7"/>
    <p:sldId id="328" r:id="rId8"/>
    <p:sldId id="334" r:id="rId9"/>
    <p:sldId id="335" r:id="rId10"/>
    <p:sldId id="290" r:id="rId11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72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368">
          <p15:clr>
            <a:srgbClr val="A4A3A4"/>
          </p15:clr>
        </p15:guide>
        <p15:guide id="5" pos="3839">
          <p15:clr>
            <a:srgbClr val="A4A3A4"/>
          </p15:clr>
        </p15:guide>
        <p15:guide id="6" pos="768">
          <p15:clr>
            <a:srgbClr val="A4A3A4"/>
          </p15:clr>
        </p15:guide>
        <p15:guide id="7" pos="729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63" d="100"/>
          <a:sy n="63" d="100"/>
        </p:scale>
        <p:origin x="72" y="912"/>
      </p:cViewPr>
      <p:guideLst>
        <p:guide orient="horz" pos="2160"/>
        <p:guide orient="horz" pos="1072"/>
        <p:guide orient="horz" pos="3888"/>
        <p:guide orient="horz" pos="368"/>
        <p:guide pos="3839"/>
        <p:guide pos="768"/>
        <p:guide pos="729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4" d="100"/>
          <a:sy n="84" d="100"/>
        </p:scale>
        <p:origin x="100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s-EC"/>
              <a:t>29/7/2021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s-EC"/>
              <a:t>29/7/2021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F51850-8A50-4B43-8A1A-51B474F994BB}" type="slidenum">
              <a:rPr lang="es-EC" smtClean="0"/>
              <a:t>2</a:t>
            </a:fld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213598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dirty="0"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dirty="0"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s-EC"/>
              <a:t>29/7/2021</a:t>
            </a:fld>
            <a:endParaRPr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s-EC"/>
              <a:t>29/7/2021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s-EC"/>
              <a:t>29/7/2021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s-EC"/>
              <a:t>29/7/2021</a:t>
            </a:fld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s-EC"/>
              <a:t>29/7/2021</a:t>
            </a:fld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s-EC"/>
              <a:t>29/7/2021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s-EC"/>
              <a:t>29/7/2021</a:t>
            </a:fld>
            <a:endParaRPr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s-EC"/>
              <a:t>29/7/2021</a:t>
            </a:fld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s-ES" dirty="0"/>
              <a:t>Haga clic en el icono para agregar una imagen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s-EC"/>
              <a:t>29/7/2021</a:t>
            </a:fld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s-EC"/>
              <a:t>29/7/2021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s-EC"/>
              <a:t>29/7/2021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7/29/2021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27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659">
              <a:lnSpc>
                <a:spcPts val="1234"/>
              </a:lnSpc>
            </a:pPr>
            <a:r>
              <a:rPr lang="en-US" spc="-17" dirty="0"/>
              <a:t>Page</a:t>
            </a:r>
            <a:r>
              <a:rPr lang="en-US" spc="-116" dirty="0"/>
              <a:t> </a:t>
            </a:r>
            <a:fld id="{81D60167-4931-47E6-BA6A-407CBD079E47}" type="slidenum">
              <a:rPr smtClean="0"/>
              <a:pPr marL="8659">
                <a:lnSpc>
                  <a:spcPts val="1234"/>
                </a:lnSpc>
              </a:pPr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5326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s-EC"/>
              <a:pPr/>
              <a:t>29/7/2021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arefoot.com/self-storage/news/1432-self-storage-industry-statistic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hyperlink" Target="http://www.thestorageacquisitiongroup.com/" TargetMode="External"/><Relationship Id="rId7" Type="http://schemas.openxmlformats.org/officeDocument/2006/relationships/image" Target="../media/image11.jpeg"/><Relationship Id="rId2" Type="http://schemas.openxmlformats.org/officeDocument/2006/relationships/hyperlink" Target="http://www.proselfstorage.com/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://www.patio.cl/" TargetMode="External"/><Relationship Id="rId5" Type="http://schemas.openxmlformats.org/officeDocument/2006/relationships/hyperlink" Target="http://www.blueboxstorage.com.ar/" TargetMode="External"/><Relationship Id="rId4" Type="http://schemas.openxmlformats.org/officeDocument/2006/relationships/hyperlink" Target="http://www.bmsgrp.com/" TargetMode="External"/><Relationship Id="rId9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Relationship Id="rId5" Type="http://schemas.microsoft.com/office/2007/relationships/hdphoto" Target="../media/hdphoto2.wdp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51365" y="4251960"/>
            <a:ext cx="4015047" cy="26060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6" dirty="0"/>
          </a:p>
        </p:txBody>
      </p:sp>
      <p:sp>
        <p:nvSpPr>
          <p:cNvPr id="3" name="object 3"/>
          <p:cNvSpPr/>
          <p:nvPr/>
        </p:nvSpPr>
        <p:spPr>
          <a:xfrm>
            <a:off x="5263140" y="51954"/>
            <a:ext cx="5403272" cy="46239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6" dirty="0"/>
          </a:p>
        </p:txBody>
      </p:sp>
      <p:sp>
        <p:nvSpPr>
          <p:cNvPr id="4" name="object 4"/>
          <p:cNvSpPr/>
          <p:nvPr/>
        </p:nvSpPr>
        <p:spPr>
          <a:xfrm>
            <a:off x="1341884" y="-103908"/>
            <a:ext cx="7281848" cy="6858000"/>
          </a:xfrm>
          <a:custGeom>
            <a:avLst/>
            <a:gdLst/>
            <a:ahLst/>
            <a:cxnLst/>
            <a:rect l="l" t="t" r="r" b="b"/>
            <a:pathLst>
              <a:path w="10415270" h="10058400">
                <a:moveTo>
                  <a:pt x="6921246" y="0"/>
                </a:moveTo>
                <a:lnTo>
                  <a:pt x="0" y="0"/>
                </a:lnTo>
                <a:lnTo>
                  <a:pt x="0" y="10057574"/>
                </a:lnTo>
                <a:lnTo>
                  <a:pt x="2248789" y="10057574"/>
                </a:lnTo>
                <a:lnTo>
                  <a:pt x="2248408" y="10058399"/>
                </a:lnTo>
                <a:lnTo>
                  <a:pt x="10415016" y="10058399"/>
                </a:lnTo>
                <a:lnTo>
                  <a:pt x="6921246" y="0"/>
                </a:lnTo>
                <a:close/>
              </a:path>
            </a:pathLst>
          </a:custGeom>
          <a:solidFill>
            <a:srgbClr val="252525">
              <a:alpha val="70195"/>
            </a:srgbClr>
          </a:solidFill>
        </p:spPr>
        <p:txBody>
          <a:bodyPr wrap="square" lIns="0" tIns="0" rIns="0" bIns="0" rtlCol="0"/>
          <a:lstStyle/>
          <a:p>
            <a:endParaRPr sz="1636" dirty="0"/>
          </a:p>
        </p:txBody>
      </p:sp>
      <p:sp>
        <p:nvSpPr>
          <p:cNvPr id="5" name="object 5"/>
          <p:cNvSpPr/>
          <p:nvPr/>
        </p:nvSpPr>
        <p:spPr>
          <a:xfrm>
            <a:off x="1341006" y="-19930"/>
            <a:ext cx="6308984" cy="6754092"/>
          </a:xfrm>
          <a:custGeom>
            <a:avLst/>
            <a:gdLst/>
            <a:ahLst/>
            <a:cxnLst/>
            <a:rect l="l" t="t" r="r" b="b"/>
            <a:pathLst>
              <a:path w="8886825" h="10058400">
                <a:moveTo>
                  <a:pt x="5392166" y="0"/>
                </a:moveTo>
                <a:lnTo>
                  <a:pt x="0" y="0"/>
                </a:lnTo>
                <a:lnTo>
                  <a:pt x="0" y="10057575"/>
                </a:lnTo>
                <a:lnTo>
                  <a:pt x="719175" y="10057575"/>
                </a:lnTo>
                <a:lnTo>
                  <a:pt x="718896" y="10058399"/>
                </a:lnTo>
                <a:lnTo>
                  <a:pt x="8886444" y="10058399"/>
                </a:lnTo>
                <a:lnTo>
                  <a:pt x="5392166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 sz="1636" dirty="0"/>
          </a:p>
        </p:txBody>
      </p:sp>
      <p:sp>
        <p:nvSpPr>
          <p:cNvPr id="6" name="object 6"/>
          <p:cNvSpPr txBox="1"/>
          <p:nvPr/>
        </p:nvSpPr>
        <p:spPr>
          <a:xfrm>
            <a:off x="909837" y="188640"/>
            <a:ext cx="5328591" cy="2123979"/>
          </a:xfrm>
          <a:prstGeom prst="rect">
            <a:avLst/>
          </a:prstGeom>
        </p:spPr>
        <p:txBody>
          <a:bodyPr vert="horz" wrap="square" lIns="0" tIns="71438" rIns="0" bIns="0" rtlCol="0">
            <a:spAutoFit/>
          </a:bodyPr>
          <a:lstStyle/>
          <a:p>
            <a:pPr marL="8659" marR="93083">
              <a:lnSpc>
                <a:spcPts val="3900"/>
              </a:lnSpc>
              <a:spcBef>
                <a:spcPts val="562"/>
              </a:spcBef>
            </a:pPr>
            <a:r>
              <a:rPr lang="en-US" sz="5400" dirty="0">
                <a:solidFill>
                  <a:srgbClr val="FFFFFF"/>
                </a:solidFill>
                <a:latin typeface="Cooper Black" panose="0208090404030B020404" pitchFamily="18" charset="0"/>
                <a:cs typeface="Calibri"/>
              </a:rPr>
              <a:t>The better way to build…….</a:t>
            </a:r>
            <a:endParaRPr sz="5400" dirty="0">
              <a:latin typeface="Cooper Black" panose="0208090404030B020404" pitchFamily="18" charset="0"/>
              <a:cs typeface="Calibri"/>
            </a:endParaRPr>
          </a:p>
          <a:p>
            <a:pPr marL="8659" marR="3464" indent="616078">
              <a:lnSpc>
                <a:spcPts val="3900"/>
              </a:lnSpc>
              <a:spcBef>
                <a:spcPts val="419"/>
              </a:spcBef>
            </a:pPr>
            <a:endParaRPr sz="3614" dirty="0">
              <a:latin typeface="Calibri"/>
              <a:cs typeface="Calibri"/>
            </a:endParaRPr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D32428E7-7020-4970-8D22-14F5B66F6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-6000" contras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459"/>
          <a:stretch>
            <a:fillRect/>
          </a:stretch>
        </p:blipFill>
        <p:spPr bwMode="auto">
          <a:xfrm>
            <a:off x="2061964" y="5554979"/>
            <a:ext cx="3138488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32363EF2-2075-4E48-8702-AC1B050FB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9878" y="6113807"/>
            <a:ext cx="63089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FFC000"/>
                </a:solidFill>
              </a:rPr>
              <a:t> CFS Development Division Self Storage Experience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D203DC-9482-4C2C-98C2-EC6D0974134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59" t="35129" r="34509" b="28930"/>
          <a:stretch/>
        </p:blipFill>
        <p:spPr>
          <a:xfrm>
            <a:off x="1341006" y="1996290"/>
            <a:ext cx="4897421" cy="31785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>
            <a:spLocks noGrp="1"/>
          </p:cNvSpPr>
          <p:nvPr>
            <p:ph type="title"/>
          </p:nvPr>
        </p:nvSpPr>
        <p:spPr>
          <a:xfrm>
            <a:off x="1413892" y="59138"/>
            <a:ext cx="8280921" cy="633558"/>
          </a:xfrm>
        </p:spPr>
        <p:txBody>
          <a:bodyPr>
            <a:normAutofit/>
          </a:bodyPr>
          <a:lstStyle/>
          <a:p>
            <a:r>
              <a:rPr lang="es-EC" b="1" dirty="0"/>
              <a:t>The Self Storage Business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BE1D2D-E5F1-49DD-AE90-DCD71EBF7004}"/>
              </a:ext>
            </a:extLst>
          </p:cNvPr>
          <p:cNvSpPr txBox="1"/>
          <p:nvPr/>
        </p:nvSpPr>
        <p:spPr>
          <a:xfrm>
            <a:off x="1485900" y="620689"/>
            <a:ext cx="871296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commercial property goes, self-storage has none of the sex appeal of a gleaming office building or a ritzy shopping mall. There </a:t>
            </a:r>
            <a:r>
              <a:rPr lang="en-US" dirty="0">
                <a:solidFill>
                  <a:schemeClr val="tx2"/>
                </a:solidFill>
              </a:rPr>
              <a:t>are </a:t>
            </a:r>
            <a:r>
              <a:rPr lang="en-US" dirty="0">
                <a:solidFill>
                  <a:schemeClr val="tx2"/>
                </a:solidFill>
                <a:hlinkClick r:id="rId3"/>
              </a:rPr>
              <a:t>more than 50,000 self-storage facilities</a:t>
            </a:r>
            <a:r>
              <a:rPr lang="en-US" dirty="0">
                <a:solidFill>
                  <a:schemeClr val="tx2"/>
                </a:solidFill>
              </a:rPr>
              <a:t> in the U.S.</a:t>
            </a:r>
          </a:p>
          <a:p>
            <a:r>
              <a:rPr lang="en-US" dirty="0">
                <a:solidFill>
                  <a:schemeClr val="tx2"/>
                </a:solidFill>
              </a:rPr>
              <a:t>But even though self-storage is about as unassuming an industry as you can get, it turns out to be a pretty solid investment, often better than other kinds of real estate.</a:t>
            </a:r>
          </a:p>
          <a:p>
            <a:endParaRPr lang="en-US" sz="1600" dirty="0"/>
          </a:p>
          <a:p>
            <a:r>
              <a:rPr lang="en-US" sz="1600" dirty="0"/>
              <a:t>Why? 	It is recession-resistant.</a:t>
            </a:r>
          </a:p>
          <a:p>
            <a:r>
              <a:rPr lang="en-US" sz="1600" dirty="0"/>
              <a:t>	Secured rental income 90% Occupancy</a:t>
            </a:r>
          </a:p>
          <a:p>
            <a:r>
              <a:rPr lang="en-US" sz="1600" dirty="0"/>
              <a:t>	Strong REIT involvement due to high yields</a:t>
            </a:r>
          </a:p>
          <a:p>
            <a:r>
              <a:rPr lang="en-US" sz="1600" dirty="0"/>
              <a:t>	Strong demographic indicators for growth</a:t>
            </a:r>
          </a:p>
          <a:p>
            <a:r>
              <a:rPr lang="en-US" sz="1600" dirty="0"/>
              <a:t>	Low capital outlay  operation expenses </a:t>
            </a:r>
          </a:p>
          <a:p>
            <a:r>
              <a:rPr lang="en-US" sz="1600" dirty="0"/>
              <a:t>	High ROI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963AEE-12EB-4F12-8504-3A025F4A58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18548" y="2582025"/>
            <a:ext cx="4104456" cy="2601263"/>
          </a:xfrm>
          <a:prstGeom prst="rect">
            <a:avLst/>
          </a:prstGeom>
        </p:spPr>
      </p:pic>
      <p:pic>
        <p:nvPicPr>
          <p:cNvPr id="5" name="Picture 4" descr="A close up of a building&#10;&#10;Description generated with very high confidence">
            <a:extLst>
              <a:ext uri="{FF2B5EF4-FFF2-40B4-BE49-F238E27FC236}">
                <a16:creationId xmlns:a16="http://schemas.microsoft.com/office/drawing/2014/main" id="{7D6A68D5-2949-42D5-9740-6C22C36C513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092" y="4793871"/>
            <a:ext cx="3888432" cy="17860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477FED-E483-4171-9CE9-E533C7567093}"/>
              </a:ext>
            </a:extLst>
          </p:cNvPr>
          <p:cNvSpPr txBox="1"/>
          <p:nvPr/>
        </p:nvSpPr>
        <p:spPr>
          <a:xfrm>
            <a:off x="7894612" y="5085185"/>
            <a:ext cx="338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trends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0BB402-E752-45DA-ACB1-75AAB00C7478}"/>
              </a:ext>
            </a:extLst>
          </p:cNvPr>
          <p:cNvSpPr txBox="1"/>
          <p:nvPr/>
        </p:nvSpPr>
        <p:spPr>
          <a:xfrm>
            <a:off x="1917948" y="5967865"/>
            <a:ext cx="11521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Old Style</a:t>
            </a:r>
          </a:p>
        </p:txBody>
      </p:sp>
    </p:spTree>
    <p:extLst>
      <p:ext uri="{BB962C8B-B14F-4D97-AF65-F5344CB8AC3E}">
        <p14:creationId xmlns:p14="http://schemas.microsoft.com/office/powerpoint/2010/main" val="1962058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413891" y="2132856"/>
            <a:ext cx="9675597" cy="224676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References </a:t>
            </a:r>
          </a:p>
          <a:p>
            <a:pPr algn="ctr"/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Exhibium experience with Self Storage</a:t>
            </a:r>
          </a:p>
          <a:p>
            <a:pPr marL="1561887" lvl="2" indent="-342900" algn="ctr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CFS system built applications  </a:t>
            </a:r>
          </a:p>
          <a:p>
            <a:pPr marL="1561887" lvl="2" indent="-342900" algn="ctr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Consulting Services</a:t>
            </a:r>
          </a:p>
          <a:p>
            <a:pPr marL="2171380" lvl="3" indent="-342900" algn="ctr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Proprietary Development projects</a:t>
            </a:r>
          </a:p>
        </p:txBody>
      </p:sp>
    </p:spTree>
    <p:extLst>
      <p:ext uri="{BB962C8B-B14F-4D97-AF65-F5344CB8AC3E}">
        <p14:creationId xmlns:p14="http://schemas.microsoft.com/office/powerpoint/2010/main" val="2201650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9916" y="438312"/>
            <a:ext cx="5184576" cy="470408"/>
          </a:xfrm>
          <a:prstGeom prst="rect">
            <a:avLst/>
          </a:prstGeom>
        </p:spPr>
        <p:txBody>
          <a:bodyPr vert="horz" wrap="square" lIns="0" tIns="8659" rIns="0" bIns="0" rtlCol="0" anchor="b">
            <a:spAutoFit/>
          </a:bodyPr>
          <a:lstStyle/>
          <a:p>
            <a:pPr marL="8659">
              <a:lnSpc>
                <a:spcPct val="100000"/>
              </a:lnSpc>
              <a:spcBef>
                <a:spcPts val="68"/>
              </a:spcBef>
            </a:pPr>
            <a:r>
              <a:rPr sz="3000" dirty="0"/>
              <a:t>Bri</a:t>
            </a:r>
            <a:r>
              <a:rPr sz="3000" spc="-24" dirty="0"/>
              <a:t>e</a:t>
            </a:r>
            <a:r>
              <a:rPr sz="3000" dirty="0"/>
              <a:t>f</a:t>
            </a:r>
            <a:r>
              <a:rPr lang="en-US" sz="3000" dirty="0"/>
              <a:t>…Cold Formed Steel (CFS)</a:t>
            </a:r>
            <a:endParaRPr sz="3000" dirty="0"/>
          </a:p>
        </p:txBody>
      </p:sp>
      <p:sp>
        <p:nvSpPr>
          <p:cNvPr id="4" name="object 4"/>
          <p:cNvSpPr txBox="1"/>
          <p:nvPr/>
        </p:nvSpPr>
        <p:spPr>
          <a:xfrm>
            <a:off x="5107362" y="5963879"/>
            <a:ext cx="2011507" cy="1819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59">
              <a:lnSpc>
                <a:spcPts val="1408"/>
              </a:lnSpc>
            </a:pPr>
            <a:r>
              <a:rPr sz="1398" spc="3" dirty="0">
                <a:solidFill>
                  <a:srgbClr val="9D9FA0"/>
                </a:solidFill>
                <a:latin typeface="Calibri"/>
                <a:cs typeface="Calibri"/>
              </a:rPr>
              <a:t>Modular </a:t>
            </a:r>
            <a:r>
              <a:rPr sz="1398" dirty="0">
                <a:solidFill>
                  <a:srgbClr val="9D9FA0"/>
                </a:solidFill>
                <a:latin typeface="Calibri"/>
                <a:cs typeface="Calibri"/>
              </a:rPr>
              <a:t>Construction</a:t>
            </a:r>
            <a:r>
              <a:rPr sz="1398" spc="-112" dirty="0">
                <a:solidFill>
                  <a:srgbClr val="9D9FA0"/>
                </a:solidFill>
                <a:latin typeface="Calibri"/>
                <a:cs typeface="Calibri"/>
              </a:rPr>
              <a:t> </a:t>
            </a:r>
            <a:r>
              <a:rPr sz="1398" spc="3" dirty="0">
                <a:solidFill>
                  <a:srgbClr val="9D9FA0"/>
                </a:solidFill>
                <a:latin typeface="Calibri"/>
                <a:cs typeface="Calibri"/>
              </a:rPr>
              <a:t>Apps</a:t>
            </a:r>
            <a:endParaRPr sz="1398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0484" y="6350888"/>
            <a:ext cx="3435927" cy="156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59">
              <a:lnSpc>
                <a:spcPts val="1234"/>
              </a:lnSpc>
            </a:pPr>
            <a:r>
              <a:rPr sz="1227" spc="-14" dirty="0">
                <a:solidFill>
                  <a:srgbClr val="888888"/>
                </a:solidFill>
                <a:latin typeface="Calibri"/>
                <a:cs typeface="Calibri"/>
              </a:rPr>
              <a:t>Copyright </a:t>
            </a:r>
            <a:r>
              <a:rPr sz="1227" dirty="0">
                <a:solidFill>
                  <a:srgbClr val="888888"/>
                </a:solidFill>
                <a:latin typeface="Calibri"/>
                <a:cs typeface="Calibri"/>
              </a:rPr>
              <a:t>© 201</a:t>
            </a:r>
            <a:r>
              <a:rPr lang="en-US" sz="1227" dirty="0">
                <a:solidFill>
                  <a:srgbClr val="888888"/>
                </a:solidFill>
                <a:latin typeface="Calibri"/>
                <a:cs typeface="Calibri"/>
              </a:rPr>
              <a:t>8</a:t>
            </a:r>
            <a:r>
              <a:rPr sz="1227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27" spc="-10" dirty="0">
                <a:solidFill>
                  <a:srgbClr val="888888"/>
                </a:solidFill>
                <a:latin typeface="Calibri"/>
                <a:cs typeface="Calibri"/>
              </a:rPr>
              <a:t>Exhibium </a:t>
            </a:r>
            <a:r>
              <a:rPr sz="1227" spc="-7" dirty="0">
                <a:solidFill>
                  <a:srgbClr val="888888"/>
                </a:solidFill>
                <a:latin typeface="Calibri"/>
                <a:cs typeface="Calibri"/>
              </a:rPr>
              <a:t>Group. </a:t>
            </a:r>
            <a:r>
              <a:rPr sz="1227" dirty="0">
                <a:solidFill>
                  <a:srgbClr val="888888"/>
                </a:solidFill>
                <a:latin typeface="Calibri"/>
                <a:cs typeface="Calibri"/>
              </a:rPr>
              <a:t>All </a:t>
            </a:r>
            <a:r>
              <a:rPr sz="1227" spc="-3" dirty="0">
                <a:solidFill>
                  <a:srgbClr val="888888"/>
                </a:solidFill>
                <a:latin typeface="Calibri"/>
                <a:cs typeface="Calibri"/>
              </a:rPr>
              <a:t>rights</a:t>
            </a:r>
            <a:r>
              <a:rPr sz="1227" spc="-2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27" spc="-3" dirty="0">
                <a:solidFill>
                  <a:srgbClr val="888888"/>
                </a:solidFill>
                <a:latin typeface="Calibri"/>
                <a:cs typeface="Calibri"/>
              </a:rPr>
              <a:t>reserved.</a:t>
            </a:r>
            <a:endParaRPr sz="1227" dirty="0">
              <a:latin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714274-0E86-4376-996A-836348289A3E}"/>
              </a:ext>
            </a:extLst>
          </p:cNvPr>
          <p:cNvSpPr/>
          <p:nvPr/>
        </p:nvSpPr>
        <p:spPr>
          <a:xfrm>
            <a:off x="1557908" y="980728"/>
            <a:ext cx="9865096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43980"/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</a:rPr>
              <a:t>CFS  frame  elements  for  building construction has become the biggest construction trend globally......</a:t>
            </a: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</a:rPr>
              <a:t>...</a:t>
            </a:r>
          </a:p>
          <a:p>
            <a:pPr marR="43980"/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</a:rPr>
              <a:t>The BETTER WAY to build.  </a:t>
            </a: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</a:rPr>
              <a:t>Major characteristics of the CFS method</a:t>
            </a:r>
            <a:endParaRPr lang="en-US" sz="2800" dirty="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pPr marR="43980"/>
            <a:endParaRPr lang="en-US" sz="1800" dirty="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</a:rPr>
              <a:t>S</a:t>
            </a:r>
            <a:r>
              <a:rPr lang="en-US" sz="1800" b="0" i="0" u="none" strike="noStrike" baseline="0" dirty="0">
                <a:latin typeface="Franklin Gothic Book" panose="020B0503020102020204" pitchFamily="34" charset="0"/>
              </a:rPr>
              <a:t>trength and ductility of structural cold-formed steel (CFS) framing, along with the holding power of CFS connections, make it the ideal material for construction in high wind speed and seismic zones.</a:t>
            </a:r>
            <a:endParaRPr lang="en-US" sz="1800" dirty="0">
              <a:latin typeface="Franklin Gothic Book" panose="020B0503020102020204" pitchFamily="34" charset="0"/>
            </a:endParaRP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Franklin Gothic Book" panose="020B0503020102020204" pitchFamily="34" charset="0"/>
              </a:rPr>
              <a:t>Characteristics such as non-combustibility,  dimensional stability can lower construction and home ownership costs. 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Franklin Gothic Book" panose="020B0503020102020204" pitchFamily="34" charset="0"/>
              </a:rPr>
              <a:t>CFS frames are eco friendly and 100% recyclable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Franklin Gothic Book" panose="020B0503020102020204" pitchFamily="34" charset="0"/>
              </a:rPr>
              <a:t>Design/Manufacturing /Construction solutions 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Franklin Gothic Book" panose="020B0503020102020204" pitchFamily="34" charset="0"/>
              </a:rPr>
              <a:t>Overall construction time reduction for better ROI performance to investors</a:t>
            </a: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</a:rPr>
              <a:t>. </a:t>
            </a:r>
          </a:p>
          <a:p>
            <a:pPr marR="36810"/>
            <a:endParaRPr lang="en-US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</a:rPr>
              <a:t>Applications and Territories under development </a:t>
            </a:r>
          </a:p>
          <a:p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</a:rPr>
              <a:t>	USA - Self Storage and Multi Family Developments</a:t>
            </a:r>
          </a:p>
          <a:p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</a:rPr>
              <a:t>	Latam - Self Storage and Residential developments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8896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93812" y="720080"/>
            <a:ext cx="9515400" cy="5157192"/>
          </a:xfrm>
        </p:spPr>
        <p:txBody>
          <a:bodyPr/>
          <a:lstStyle/>
          <a:p>
            <a:r>
              <a:rPr lang="en-US" sz="1600" dirty="0"/>
              <a:t>Project execution time savings.</a:t>
            </a:r>
          </a:p>
          <a:p>
            <a:r>
              <a:rPr lang="en-US" sz="1600" dirty="0"/>
              <a:t>Innovators in new green construction techniques: </a:t>
            </a:r>
          </a:p>
          <a:p>
            <a:r>
              <a:rPr lang="en-US" sz="1600" dirty="0"/>
              <a:t>Construction Cost savings.- Off site development</a:t>
            </a:r>
          </a:p>
          <a:p>
            <a:r>
              <a:rPr lang="en-US" sz="1600" dirty="0"/>
              <a:t>ROI focused sustainable development</a:t>
            </a:r>
          </a:p>
          <a:p>
            <a:endParaRPr lang="es-EC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79612" y="0"/>
            <a:ext cx="8229600" cy="720080"/>
          </a:xfrm>
        </p:spPr>
        <p:txBody>
          <a:bodyPr>
            <a:normAutofit/>
          </a:bodyPr>
          <a:lstStyle/>
          <a:p>
            <a:r>
              <a:rPr lang="es-EC" b="1" dirty="0"/>
              <a:t>CFS BENEFITS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0A2938-44CE-4E92-9707-BA139D221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641" y="2869910"/>
            <a:ext cx="6862955" cy="35834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647E10-67FE-45D0-A44D-FB9674D8A3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47898" y="558942"/>
            <a:ext cx="3763137" cy="27980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E7C7D1-2A01-45F8-8022-E73CE2804D78}"/>
              </a:ext>
            </a:extLst>
          </p:cNvPr>
          <p:cNvSpPr txBox="1"/>
          <p:nvPr/>
        </p:nvSpPr>
        <p:spPr>
          <a:xfrm>
            <a:off x="8110636" y="5877272"/>
            <a:ext cx="1800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Bim Modeling</a:t>
            </a:r>
          </a:p>
          <a:p>
            <a:r>
              <a:rPr lang="en-US" sz="1100" dirty="0">
                <a:solidFill>
                  <a:schemeClr val="bg1"/>
                </a:solidFill>
              </a:rPr>
              <a:t>Framing and MEP</a:t>
            </a:r>
          </a:p>
        </p:txBody>
      </p:sp>
      <p:pic>
        <p:nvPicPr>
          <p:cNvPr id="9" name="Picture 8" descr="A picture containing indoor, transport&#10;&#10;Description automatically generated">
            <a:extLst>
              <a:ext uri="{FF2B5EF4-FFF2-40B4-BE49-F238E27FC236}">
                <a16:creationId xmlns:a16="http://schemas.microsoft.com/office/drawing/2014/main" id="{9749045E-E071-4408-AAF2-B89AFD44D6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529" y="599016"/>
            <a:ext cx="2412067" cy="1799773"/>
          </a:xfrm>
          <a:prstGeom prst="rect">
            <a:avLst/>
          </a:prstGeom>
        </p:spPr>
      </p:pic>
      <p:pic>
        <p:nvPicPr>
          <p:cNvPr id="11" name="Picture 10" descr="A picture containing person, indoor, playing, man&#10;&#10;Description automatically generated">
            <a:extLst>
              <a:ext uri="{FF2B5EF4-FFF2-40B4-BE49-F238E27FC236}">
                <a16:creationId xmlns:a16="http://schemas.microsoft.com/office/drawing/2014/main" id="{D3B5B6D5-79E7-4C77-A5B0-3AE1908E32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885" y="3733637"/>
            <a:ext cx="3984978" cy="265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863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B382E0E1-5C31-4502-B16B-578EA5BCB3E0}"/>
              </a:ext>
            </a:extLst>
          </p:cNvPr>
          <p:cNvSpPr txBox="1"/>
          <p:nvPr/>
        </p:nvSpPr>
        <p:spPr>
          <a:xfrm>
            <a:off x="621804" y="242558"/>
            <a:ext cx="6840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Consulting Services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5BD9C8-6D65-4853-89B3-629BFA2FA0D3}"/>
              </a:ext>
            </a:extLst>
          </p:cNvPr>
          <p:cNvSpPr txBox="1"/>
          <p:nvPr/>
        </p:nvSpPr>
        <p:spPr>
          <a:xfrm>
            <a:off x="909837" y="908720"/>
            <a:ext cx="410445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Services provided in an advisory 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Concept Planning and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CFS system Built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Pre- Construction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Bim Modeling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Site Planning 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Clients served: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USA consultancies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2"/>
              </a:rPr>
              <a:t>www.proselfstorage.com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/>
              </a:rPr>
              <a:t>www.thestorageacquisitiongroup.com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4"/>
              </a:rPr>
              <a:t>www.bmsgrp.com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LATAM consultancies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5"/>
              </a:rPr>
              <a:t>www.blueboxstorage.com.ar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6"/>
              </a:rPr>
              <a:t>www.patio.cl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1026" name="Picture 2" descr="Site Design and Unit Mix | Learn Self Storage | Parham Group">
            <a:extLst>
              <a:ext uri="{FF2B5EF4-FFF2-40B4-BE49-F238E27FC236}">
                <a16:creationId xmlns:a16="http://schemas.microsoft.com/office/drawing/2014/main" id="{7234662D-9AD9-4A88-9D2B-E46818856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8690" y="404664"/>
            <a:ext cx="4381500" cy="273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Much Space is Enough For Your Self Storage Building Project?">
            <a:extLst>
              <a:ext uri="{FF2B5EF4-FFF2-40B4-BE49-F238E27FC236}">
                <a16:creationId xmlns:a16="http://schemas.microsoft.com/office/drawing/2014/main" id="{6FA5D8A5-D829-4F12-B997-3FF21C945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3654" y="3324183"/>
            <a:ext cx="6092826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picture containing bed&#10;&#10;Description automatically generated">
            <a:extLst>
              <a:ext uri="{FF2B5EF4-FFF2-40B4-BE49-F238E27FC236}">
                <a16:creationId xmlns:a16="http://schemas.microsoft.com/office/drawing/2014/main" id="{A6599392-491D-4D0A-B9A0-3F102A0AC7A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212" y="1607947"/>
            <a:ext cx="302895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34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B382E0E1-5C31-4502-B16B-578EA5BCB3E0}"/>
              </a:ext>
            </a:extLst>
          </p:cNvPr>
          <p:cNvSpPr txBox="1"/>
          <p:nvPr/>
        </p:nvSpPr>
        <p:spPr>
          <a:xfrm>
            <a:off x="909836" y="116632"/>
            <a:ext cx="105131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Exhibium Proprietary Development Services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5BD9C8-6D65-4853-89B3-629BFA2FA0D3}"/>
              </a:ext>
            </a:extLst>
          </p:cNvPr>
          <p:cNvSpPr txBox="1"/>
          <p:nvPr/>
        </p:nvSpPr>
        <p:spPr>
          <a:xfrm>
            <a:off x="909837" y="908720"/>
            <a:ext cx="410445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800" dirty="0"/>
          </a:p>
          <a:p>
            <a:r>
              <a:rPr lang="en-US" sz="1800" dirty="0"/>
              <a:t>Services provided :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Feasibility Studies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Site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Environmental Studies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Plan Approvals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Architectural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Engineering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Project Management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Financials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Equity Funding sourcing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Concept Planning and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CFS system Built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Construction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Construction Oversight services</a:t>
            </a:r>
          </a:p>
          <a:p>
            <a:r>
              <a:rPr lang="en-US" sz="1800" dirty="0"/>
              <a:t> 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7" name="Picture 6" descr="A close up of a building&#10;&#10;Description generated with very high confidence">
            <a:extLst>
              <a:ext uri="{FF2B5EF4-FFF2-40B4-BE49-F238E27FC236}">
                <a16:creationId xmlns:a16="http://schemas.microsoft.com/office/drawing/2014/main" id="{4C67526B-F2B1-4B96-AD8E-158284307A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4821" y="3319712"/>
            <a:ext cx="4726971" cy="3112937"/>
          </a:xfrm>
          <a:prstGeom prst="rect">
            <a:avLst/>
          </a:prstGeom>
        </p:spPr>
      </p:pic>
      <p:pic>
        <p:nvPicPr>
          <p:cNvPr id="6" name="Picture 5" descr="A close up of a building&#10;&#10;Description automatically generated">
            <a:extLst>
              <a:ext uri="{FF2B5EF4-FFF2-40B4-BE49-F238E27FC236}">
                <a16:creationId xmlns:a16="http://schemas.microsoft.com/office/drawing/2014/main" id="{22E23896-6E06-4FA6-8CFE-A1FB0CD4C1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700" y="1354172"/>
            <a:ext cx="3285092" cy="1740956"/>
          </a:xfrm>
          <a:prstGeom prst="rect">
            <a:avLst/>
          </a:prstGeom>
        </p:spPr>
      </p:pic>
      <p:pic>
        <p:nvPicPr>
          <p:cNvPr id="5" name="Imagen 7">
            <a:extLst>
              <a:ext uri="{FF2B5EF4-FFF2-40B4-BE49-F238E27FC236}">
                <a16:creationId xmlns:a16="http://schemas.microsoft.com/office/drawing/2014/main" id="{0C6EFA1A-4CC5-4B32-BF18-DF9C1A6913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196" y="748885"/>
            <a:ext cx="4464496" cy="313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961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B382E0E1-5C31-4502-B16B-578EA5BCB3E0}"/>
              </a:ext>
            </a:extLst>
          </p:cNvPr>
          <p:cNvSpPr txBox="1"/>
          <p:nvPr/>
        </p:nvSpPr>
        <p:spPr>
          <a:xfrm>
            <a:off x="909836" y="116632"/>
            <a:ext cx="108732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Current Exhibium Proprietary Florida Development 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ED5121-684B-4402-92ED-A505A5E2B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8000"/>
                    </a14:imgEffect>
                    <a14:imgEffect>
                      <a14:brightnessContrast bright="-4000" contras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8987" y="1052736"/>
            <a:ext cx="6719521" cy="52565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B04C9B-7DCD-4798-B04F-8C27644B1A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1000"/>
                    </a14:imgEffect>
                    <a14:imgEffect>
                      <a14:brightnessContrast bright="4000" contrast="2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27351" y="1052736"/>
            <a:ext cx="4949419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7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802AB6-92F7-4230-A598-3983A2876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916" y="188640"/>
            <a:ext cx="9289032" cy="632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266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_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Tech_16x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Tech_16x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Tech_16x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84407AA-6DF8-4070-A29E-222AAB14E0AC}">
  <we:reference id="fa000000002" version="1.0.0.0" store="en-us" storeType="FirstParty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ED702D4E-A8C1-4AE8-9305-A86DD96A33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líneas de circuito triple (pantalla panorámica)</Template>
  <TotalTime>0</TotalTime>
  <Words>426</Words>
  <Application>Microsoft Office PowerPoint</Application>
  <PresentationFormat>Custom</PresentationFormat>
  <Paragraphs>80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Century Gothic</vt:lpstr>
      <vt:lpstr>Cooper Black</vt:lpstr>
      <vt:lpstr>Franklin Gothic Book</vt:lpstr>
      <vt:lpstr>Symbol</vt:lpstr>
      <vt:lpstr>Tech_16x9</vt:lpstr>
      <vt:lpstr>PowerPoint Presentation</vt:lpstr>
      <vt:lpstr>The Self Storage Business</vt:lpstr>
      <vt:lpstr>PowerPoint Presentation</vt:lpstr>
      <vt:lpstr>Brief…Cold Formed Steel (CFS)</vt:lpstr>
      <vt:lpstr>CFS BENEFITS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2017-06-26T19:56:11Z</dcterms:created>
  <dcterms:modified xsi:type="dcterms:W3CDTF">2021-07-29T09:56:29Z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</Properties>
</file>